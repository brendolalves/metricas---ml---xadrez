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y="6858000" cx="12192000"/>
  <p:notesSz cx="6858000" cy="9144000"/>
  <p:embeddedFontLst>
    <p:embeddedFont>
      <p:font typeface="Plus Jakarta Sans"/>
      <p:regular r:id="rId20"/>
      <p:bold r:id="rId21"/>
      <p:italic r:id="rId22"/>
      <p:boldItalic r:id="rId23"/>
    </p:embeddedFont>
    <p:embeddedFont>
      <p:font typeface="Space Grotesk"/>
      <p:regular r:id="rId24"/>
      <p:bold r:id="rId2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4EE9D834-7440-4799-A526-2D4600DCD2BF}">
  <a:tblStyle styleId="{4EE9D834-7440-4799-A526-2D4600DCD2BF}"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PlusJakartaSans-regular.fntdata"/><Relationship Id="rId22" Type="http://schemas.openxmlformats.org/officeDocument/2006/relationships/font" Target="fonts/PlusJakartaSans-italic.fntdata"/><Relationship Id="rId21" Type="http://schemas.openxmlformats.org/officeDocument/2006/relationships/font" Target="fonts/PlusJakartaSans-bold.fntdata"/><Relationship Id="rId24" Type="http://schemas.openxmlformats.org/officeDocument/2006/relationships/font" Target="fonts/SpaceGrotesk-regular.fntdata"/><Relationship Id="rId23" Type="http://schemas.openxmlformats.org/officeDocument/2006/relationships/font" Target="fonts/PlusJakartaSans-bold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5" Type="http://schemas.openxmlformats.org/officeDocument/2006/relationships/font" Target="fonts/SpaceGrotesk-bold.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h7316d322d368aca6_1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h7316d322d368aca6_1_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5" name="Google Shape;235;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0"/>
          <p:cNvSpPr/>
          <p:nvPr>
            <p:ph idx="2" type="pic"/>
          </p:nvPr>
        </p:nvSpPr>
        <p:spPr>
          <a:xfrm>
            <a:off x="1792288" y="612775"/>
            <a:ext cx="5486400" cy="4114800"/>
          </a:xfrm>
          <a:prstGeom prst="rect">
            <a:avLst/>
          </a:prstGeom>
          <a:noFill/>
          <a:ln>
            <a:noFill/>
          </a:ln>
        </p:spPr>
      </p:sp>
      <p:sp>
        <p:nvSpPr>
          <p:cNvPr id="64" name="Google Shape;64;p1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5.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3.png"/><Relationship Id="rId4" Type="http://schemas.openxmlformats.org/officeDocument/2006/relationships/image" Target="../media/image1.png"/><Relationship Id="rId5"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1.png"/><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6.png"/><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9.png"/><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83" name="Shape 83"/>
        <p:cNvGrpSpPr/>
        <p:nvPr/>
      </p:nvGrpSpPr>
      <p:grpSpPr>
        <a:xfrm>
          <a:off x="0" y="0"/>
          <a:ext cx="0" cy="0"/>
          <a:chOff x="0" y="0"/>
          <a:chExt cx="0" cy="0"/>
        </a:xfrm>
      </p:grpSpPr>
      <p:sp>
        <p:nvSpPr>
          <p:cNvPr id="84" name="Google Shape;84;p13"/>
          <p:cNvSpPr/>
          <p:nvPr/>
        </p:nvSpPr>
        <p:spPr>
          <a:xfrm>
            <a:off x="609600" y="4749105"/>
            <a:ext cx="609600" cy="38100"/>
          </a:xfrm>
          <a:prstGeom prst="roundRect">
            <a:avLst>
              <a:gd fmla="val 50000" name="adj"/>
            </a:avLst>
          </a:prstGeom>
          <a:solidFill>
            <a:srgbClr val="38BDF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5" name="Google Shape;85;p13"/>
          <p:cNvSpPr txBox="1"/>
          <p:nvPr/>
        </p:nvSpPr>
        <p:spPr>
          <a:xfrm>
            <a:off x="609600" y="2070794"/>
            <a:ext cx="11582400" cy="2000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200" u="none" cap="none" strike="noStrike">
                <a:solidFill>
                  <a:srgbClr val="38BDF8"/>
                </a:solidFill>
                <a:latin typeface="Space Grotesk"/>
                <a:ea typeface="Space Grotesk"/>
                <a:cs typeface="Space Grotesk"/>
                <a:sym typeface="Space Grotesk"/>
              </a:rPr>
              <a:t>PROJETO DE MACHINE LEARNING</a:t>
            </a:r>
            <a:endParaRPr/>
          </a:p>
        </p:txBody>
      </p:sp>
      <p:sp>
        <p:nvSpPr>
          <p:cNvPr id="86" name="Google Shape;86;p13"/>
          <p:cNvSpPr txBox="1"/>
          <p:nvPr/>
        </p:nvSpPr>
        <p:spPr>
          <a:xfrm>
            <a:off x="609600" y="2423219"/>
            <a:ext cx="8601075" cy="1182885"/>
          </a:xfrm>
          <a:prstGeom prst="rect">
            <a:avLst/>
          </a:prstGeom>
          <a:noFill/>
          <a:ln>
            <a:noFill/>
          </a:ln>
        </p:spPr>
        <p:txBody>
          <a:bodyPr anchorCtr="0" anchor="t" bIns="0" lIns="0" spcFirstLastPara="1" rIns="0" wrap="square" tIns="0">
            <a:spAutoFit/>
          </a:bodyPr>
          <a:lstStyle/>
          <a:p>
            <a:pPr indent="0" lvl="0" marL="0" marR="0" rtl="0" algn="l">
              <a:lnSpc>
                <a:spcPct val="114987"/>
              </a:lnSpc>
              <a:spcBef>
                <a:spcPts val="0"/>
              </a:spcBef>
              <a:spcAft>
                <a:spcPts val="0"/>
              </a:spcAft>
              <a:buNone/>
            </a:pPr>
            <a:r>
              <a:rPr b="1" i="0" lang="en-US" sz="4050" u="none" cap="none" strike="noStrike">
                <a:solidFill>
                  <a:srgbClr val="F8FAFC"/>
                </a:solidFill>
                <a:latin typeface="Space Grotesk"/>
                <a:ea typeface="Space Grotesk"/>
                <a:cs typeface="Space Grotesk"/>
                <a:sym typeface="Space Grotesk"/>
              </a:rPr>
              <a:t>Previsão de Vitórias em Xadrez com Aprendizado de Máquina</a:t>
            </a:r>
            <a:endParaRPr/>
          </a:p>
        </p:txBody>
      </p:sp>
      <p:sp>
        <p:nvSpPr>
          <p:cNvPr id="87" name="Google Shape;87;p13"/>
          <p:cNvSpPr txBox="1"/>
          <p:nvPr/>
        </p:nvSpPr>
        <p:spPr>
          <a:xfrm>
            <a:off x="609600" y="3834705"/>
            <a:ext cx="6572250" cy="5715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500" u="none" cap="none" strike="noStrike">
                <a:solidFill>
                  <a:srgbClr val="94A3B8"/>
                </a:solidFill>
                <a:latin typeface="Plus Jakarta Sans"/>
                <a:ea typeface="Plus Jakarta Sans"/>
                <a:cs typeface="Plus Jakarta Sans"/>
                <a:sym typeface="Plus Jakarta Sans"/>
              </a:rPr>
              <a:t>Análise comparativa entre Árvore de Decisão, Naive Bayes e Regressão Logística em partidas online (</a:t>
            </a:r>
            <a:r>
              <a:rPr b="1" i="0" lang="en-US" sz="1500" u="none" cap="none" strike="noStrike">
                <a:solidFill>
                  <a:srgbClr val="94A3B8"/>
                </a:solidFill>
                <a:latin typeface="Plus Jakarta Sans"/>
                <a:ea typeface="Plus Jakarta Sans"/>
                <a:cs typeface="Plus Jakarta Sans"/>
                <a:sym typeface="Plus Jakarta Sans"/>
              </a:rPr>
              <a:t>Lichess.org)</a:t>
            </a:r>
            <a:r>
              <a:rPr b="0" i="0" lang="en-US" sz="1500" u="none" cap="none" strike="noStrike">
                <a:solidFill>
                  <a:srgbClr val="94A3B8"/>
                </a:solidFill>
                <a:latin typeface="Plus Jakarta Sans"/>
                <a:ea typeface="Plus Jakarta Sans"/>
                <a:cs typeface="Plus Jakarta Sans"/>
                <a:sym typeface="Plus Jakarta Sans"/>
              </a:rPr>
              <a:t>.</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1" name="Shape 91"/>
        <p:cNvGrpSpPr/>
        <p:nvPr/>
      </p:nvGrpSpPr>
      <p:grpSpPr>
        <a:xfrm>
          <a:off x="0" y="0"/>
          <a:ext cx="0" cy="0"/>
          <a:chOff x="0" y="0"/>
          <a:chExt cx="0" cy="0"/>
        </a:xfrm>
      </p:grpSpPr>
      <p:sp>
        <p:nvSpPr>
          <p:cNvPr id="92" name="Google Shape;92;p14"/>
          <p:cNvSpPr/>
          <p:nvPr/>
        </p:nvSpPr>
        <p:spPr>
          <a:xfrm>
            <a:off x="1165800" y="1770300"/>
            <a:ext cx="9860400" cy="4218600"/>
          </a:xfrm>
          <a:prstGeom prst="roundRect">
            <a:avLst>
              <a:gd fmla="val 6382" name="adj"/>
            </a:avLst>
          </a:prstGeom>
          <a:solidFill>
            <a:srgbClr val="F8FAFC"/>
          </a:solidFill>
          <a:ln cap="flat" cmpd="sng" w="952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93" name="Google Shape;93;p14"/>
          <p:cNvSpPr txBox="1"/>
          <p:nvPr/>
        </p:nvSpPr>
        <p:spPr>
          <a:xfrm>
            <a:off x="609600" y="457200"/>
            <a:ext cx="11582400" cy="161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050">
                <a:solidFill>
                  <a:srgbClr val="0284C7"/>
                </a:solidFill>
                <a:latin typeface="Plus Jakarta Sans"/>
                <a:ea typeface="Plus Jakarta Sans"/>
                <a:cs typeface="Plus Jakarta Sans"/>
                <a:sym typeface="Plus Jakarta Sans"/>
              </a:rPr>
              <a:t>A ELABORAÇÃO DO BANCO DE  DADOS</a:t>
            </a:r>
            <a:endParaRPr/>
          </a:p>
        </p:txBody>
      </p:sp>
      <p:sp>
        <p:nvSpPr>
          <p:cNvPr id="94" name="Google Shape;94;p14"/>
          <p:cNvSpPr txBox="1"/>
          <p:nvPr/>
        </p:nvSpPr>
        <p:spPr>
          <a:xfrm>
            <a:off x="609600" y="704850"/>
            <a:ext cx="11582400" cy="369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2400">
                <a:solidFill>
                  <a:srgbClr val="0F172A"/>
                </a:solidFill>
                <a:latin typeface="Plus Jakarta Sans"/>
                <a:ea typeface="Plus Jakarta Sans"/>
                <a:cs typeface="Plus Jakarta Sans"/>
                <a:sym typeface="Plus Jakarta Sans"/>
              </a:rPr>
              <a:t>As partidas que criaram a </a:t>
            </a:r>
            <a:r>
              <a:rPr b="1" lang="en-US" sz="2400">
                <a:latin typeface="Plus Jakarta Sans"/>
                <a:ea typeface="Plus Jakarta Sans"/>
                <a:cs typeface="Plus Jakarta Sans"/>
                <a:sym typeface="Plus Jakarta Sans"/>
              </a:rPr>
              <a:t>ABT (Analytical Base Table) </a:t>
            </a:r>
            <a:endParaRPr b="1" sz="2400">
              <a:latin typeface="Plus Jakarta Sans"/>
              <a:ea typeface="Plus Jakarta Sans"/>
              <a:cs typeface="Plus Jakarta Sans"/>
              <a:sym typeface="Plus Jakarta Sans"/>
            </a:endParaRPr>
          </a:p>
        </p:txBody>
      </p:sp>
      <p:sp>
        <p:nvSpPr>
          <p:cNvPr id="95" name="Google Shape;95;p14"/>
          <p:cNvSpPr txBox="1"/>
          <p:nvPr/>
        </p:nvSpPr>
        <p:spPr>
          <a:xfrm>
            <a:off x="1525125" y="2590988"/>
            <a:ext cx="4008900" cy="423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2750">
                <a:solidFill>
                  <a:srgbClr val="0F172A"/>
                </a:solidFill>
                <a:latin typeface="Plus Jakarta Sans"/>
                <a:ea typeface="Plus Jakarta Sans"/>
                <a:cs typeface="Plus Jakarta Sans"/>
                <a:sym typeface="Plus Jakarta Sans"/>
              </a:rPr>
              <a:t>Site</a:t>
            </a:r>
            <a:endParaRPr sz="2800"/>
          </a:p>
        </p:txBody>
      </p:sp>
      <p:sp>
        <p:nvSpPr>
          <p:cNvPr id="96" name="Google Shape;96;p14"/>
          <p:cNvSpPr txBox="1"/>
          <p:nvPr/>
        </p:nvSpPr>
        <p:spPr>
          <a:xfrm>
            <a:off x="847725" y="3771900"/>
            <a:ext cx="3818100" cy="215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t/>
            </a:r>
            <a:endParaRPr/>
          </a:p>
        </p:txBody>
      </p:sp>
      <p:sp>
        <p:nvSpPr>
          <p:cNvPr id="97" name="Google Shape;97;p14"/>
          <p:cNvSpPr txBox="1"/>
          <p:nvPr/>
        </p:nvSpPr>
        <p:spPr>
          <a:xfrm>
            <a:off x="1525125" y="3146025"/>
            <a:ext cx="8811900" cy="22212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Clr>
                <a:schemeClr val="dk1"/>
              </a:buClr>
              <a:buSzPts val="1100"/>
              <a:buFont typeface="Arial"/>
              <a:buNone/>
            </a:pPr>
            <a:r>
              <a:rPr lang="en-US" sz="1700">
                <a:solidFill>
                  <a:schemeClr val="dk1"/>
                </a:solidFill>
                <a:latin typeface="Plus Jakarta Sans"/>
                <a:ea typeface="Plus Jakarta Sans"/>
                <a:cs typeface="Plus Jakarta Sans"/>
                <a:sym typeface="Plus Jakarta Sans"/>
              </a:rPr>
              <a:t>O banco de dados de xadrez (</a:t>
            </a:r>
            <a:r>
              <a:rPr lang="en-US" sz="1700">
                <a:solidFill>
                  <a:srgbClr val="188038"/>
                </a:solidFill>
                <a:latin typeface="Plus Jakarta Sans"/>
                <a:ea typeface="Plus Jakarta Sans"/>
                <a:cs typeface="Plus Jakarta Sans"/>
                <a:sym typeface="Plus Jakarta Sans"/>
              </a:rPr>
              <a:t>chess_games.csv</a:t>
            </a:r>
            <a:r>
              <a:rPr lang="en-US" sz="1700">
                <a:solidFill>
                  <a:schemeClr val="dk1"/>
                </a:solidFill>
                <a:latin typeface="Plus Jakarta Sans"/>
                <a:ea typeface="Plus Jakarta Sans"/>
                <a:cs typeface="Plus Jakarta Sans"/>
                <a:sym typeface="Plus Jakarta Sans"/>
              </a:rPr>
              <a:t>) utilizado neste estudo foi coletado originalmente na plataforma </a:t>
            </a:r>
            <a:r>
              <a:rPr b="1" lang="en-US" sz="1700">
                <a:solidFill>
                  <a:schemeClr val="dk1"/>
                </a:solidFill>
                <a:latin typeface="Plus Jakarta Sans"/>
                <a:ea typeface="Plus Jakarta Sans"/>
                <a:cs typeface="Plus Jakarta Sans"/>
                <a:sym typeface="Plus Jakarta Sans"/>
              </a:rPr>
              <a:t>Lichess.org</a:t>
            </a:r>
            <a:r>
              <a:rPr lang="en-US" sz="1700">
                <a:solidFill>
                  <a:schemeClr val="dk1"/>
                </a:solidFill>
                <a:latin typeface="Plus Jakarta Sans"/>
                <a:ea typeface="Plus Jakarta Sans"/>
                <a:cs typeface="Plus Jakarta Sans"/>
                <a:sym typeface="Plus Jakarta Sans"/>
              </a:rPr>
              <a:t> (disponibilizado publicamente através do Kaggle).</a:t>
            </a:r>
            <a:endParaRPr sz="1700">
              <a:solidFill>
                <a:schemeClr val="dk1"/>
              </a:solidFill>
              <a:latin typeface="Plus Jakarta Sans"/>
              <a:ea typeface="Plus Jakarta Sans"/>
              <a:cs typeface="Plus Jakarta Sans"/>
              <a:sym typeface="Plus Jakarta Sans"/>
            </a:endParaRPr>
          </a:p>
          <a:p>
            <a:pPr indent="0" lvl="0" marL="0" rtl="0" algn="l">
              <a:lnSpc>
                <a:spcPct val="115000"/>
              </a:lnSpc>
              <a:spcBef>
                <a:spcPts val="1200"/>
              </a:spcBef>
              <a:spcAft>
                <a:spcPts val="1200"/>
              </a:spcAft>
              <a:buSzPts val="1100"/>
              <a:buNone/>
            </a:pPr>
            <a:r>
              <a:rPr lang="en-US" sz="1700">
                <a:solidFill>
                  <a:schemeClr val="dk1"/>
                </a:solidFill>
                <a:latin typeface="Plus Jakarta Sans"/>
                <a:ea typeface="Plus Jakarta Sans"/>
                <a:cs typeface="Plus Jakarta Sans"/>
                <a:sym typeface="Plus Jakarta Sans"/>
              </a:rPr>
              <a:t>Trata-se de um conjunto de dados composto por cerca de 20.000 partidas jogadas por usuários reais no site, contemplando informações detalhadas como IDs dos jogadores, ratings (Elo), número de turnos, status de vitória, lances e as aberturas utilizadas.</a:t>
            </a:r>
            <a:endParaRPr b="1" sz="1725">
              <a:solidFill>
                <a:srgbClr val="475569"/>
              </a:solidFill>
              <a:latin typeface="Plus Jakarta Sans"/>
              <a:ea typeface="Plus Jakarta Sans"/>
              <a:cs typeface="Plus Jakarta Sans"/>
              <a:sym typeface="Plus Jakarta Sans"/>
            </a:endParaRPr>
          </a:p>
        </p:txBody>
      </p:sp>
      <p:pic>
        <p:nvPicPr>
          <p:cNvPr descr="melhore a resolução " id="98" name="Google Shape;98;p14"/>
          <p:cNvPicPr preferRelativeResize="0"/>
          <p:nvPr/>
        </p:nvPicPr>
        <p:blipFill>
          <a:blip r:embed="rId3">
            <a:alphaModFix/>
          </a:blip>
          <a:stretch>
            <a:fillRect/>
          </a:stretch>
        </p:blipFill>
        <p:spPr>
          <a:xfrm>
            <a:off x="1525125" y="1980900"/>
            <a:ext cx="482728" cy="4290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2" name="Shape 102"/>
        <p:cNvGrpSpPr/>
        <p:nvPr/>
      </p:nvGrpSpPr>
      <p:grpSpPr>
        <a:xfrm>
          <a:off x="0" y="0"/>
          <a:ext cx="0" cy="0"/>
          <a:chOff x="0" y="0"/>
          <a:chExt cx="0" cy="0"/>
        </a:xfrm>
      </p:grpSpPr>
      <p:sp>
        <p:nvSpPr>
          <p:cNvPr id="103" name="Google Shape;103;p15"/>
          <p:cNvSpPr/>
          <p:nvPr/>
        </p:nvSpPr>
        <p:spPr>
          <a:xfrm>
            <a:off x="609600" y="3000375"/>
            <a:ext cx="3530649" cy="1790700"/>
          </a:xfrm>
          <a:prstGeom prst="roundRect">
            <a:avLst>
              <a:gd fmla="val 6382" name="adj"/>
            </a:avLst>
          </a:prstGeom>
          <a:solidFill>
            <a:srgbClr val="F8FAFC"/>
          </a:solidFill>
          <a:ln cap="flat" cmpd="sng" w="952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04" name="Google Shape;104;p15"/>
          <p:cNvSpPr/>
          <p:nvPr/>
        </p:nvSpPr>
        <p:spPr>
          <a:xfrm>
            <a:off x="4330749" y="3000375"/>
            <a:ext cx="3530649" cy="1790700"/>
          </a:xfrm>
          <a:prstGeom prst="roundRect">
            <a:avLst>
              <a:gd fmla="val 6382" name="adj"/>
            </a:avLst>
          </a:prstGeom>
          <a:solidFill>
            <a:srgbClr val="F8FAFC"/>
          </a:solidFill>
          <a:ln cap="flat" cmpd="sng" w="952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05" name="Google Shape;105;p15"/>
          <p:cNvSpPr/>
          <p:nvPr/>
        </p:nvSpPr>
        <p:spPr>
          <a:xfrm>
            <a:off x="8051899" y="3000375"/>
            <a:ext cx="3530649" cy="1790700"/>
          </a:xfrm>
          <a:prstGeom prst="roundRect">
            <a:avLst>
              <a:gd fmla="val 6382" name="adj"/>
            </a:avLst>
          </a:prstGeom>
          <a:solidFill>
            <a:srgbClr val="F8FAFC"/>
          </a:solidFill>
          <a:ln cap="flat" cmpd="sng" w="952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image.png" id="106" name="Google Shape;106;p15"/>
          <p:cNvPicPr preferRelativeResize="0"/>
          <p:nvPr/>
        </p:nvPicPr>
        <p:blipFill rotWithShape="1">
          <a:blip r:embed="rId3">
            <a:alphaModFix/>
          </a:blip>
          <a:srcRect b="0" l="0" r="0" t="0"/>
          <a:stretch/>
        </p:blipFill>
        <p:spPr>
          <a:xfrm>
            <a:off x="847725" y="3238500"/>
            <a:ext cx="257175" cy="228600"/>
          </a:xfrm>
          <a:prstGeom prst="rect">
            <a:avLst/>
          </a:prstGeom>
          <a:noFill/>
          <a:ln>
            <a:noFill/>
          </a:ln>
        </p:spPr>
      </p:pic>
      <p:pic>
        <p:nvPicPr>
          <p:cNvPr descr="image.png" id="107" name="Google Shape;107;p15"/>
          <p:cNvPicPr preferRelativeResize="0"/>
          <p:nvPr/>
        </p:nvPicPr>
        <p:blipFill rotWithShape="1">
          <a:blip r:embed="rId4">
            <a:alphaModFix/>
          </a:blip>
          <a:srcRect b="0" l="0" r="0" t="0"/>
          <a:stretch/>
        </p:blipFill>
        <p:spPr>
          <a:xfrm>
            <a:off x="4568874" y="3238500"/>
            <a:ext cx="228600" cy="228600"/>
          </a:xfrm>
          <a:prstGeom prst="rect">
            <a:avLst/>
          </a:prstGeom>
          <a:noFill/>
          <a:ln>
            <a:noFill/>
          </a:ln>
        </p:spPr>
      </p:pic>
      <p:pic>
        <p:nvPicPr>
          <p:cNvPr descr="image.png" id="108" name="Google Shape;108;p15"/>
          <p:cNvPicPr preferRelativeResize="0"/>
          <p:nvPr/>
        </p:nvPicPr>
        <p:blipFill rotWithShape="1">
          <a:blip r:embed="rId5">
            <a:alphaModFix/>
          </a:blip>
          <a:srcRect b="0" l="0" r="0" t="0"/>
          <a:stretch/>
        </p:blipFill>
        <p:spPr>
          <a:xfrm>
            <a:off x="8290024" y="3238500"/>
            <a:ext cx="200025" cy="228600"/>
          </a:xfrm>
          <a:prstGeom prst="rect">
            <a:avLst/>
          </a:prstGeom>
          <a:noFill/>
          <a:ln>
            <a:noFill/>
          </a:ln>
        </p:spPr>
      </p:pic>
      <p:sp>
        <p:nvSpPr>
          <p:cNvPr id="109" name="Google Shape;109;p15"/>
          <p:cNvSpPr txBox="1"/>
          <p:nvPr/>
        </p:nvSpPr>
        <p:spPr>
          <a:xfrm>
            <a:off x="609600" y="457200"/>
            <a:ext cx="11582400" cy="1714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050" u="none" cap="none" strike="noStrike">
                <a:solidFill>
                  <a:srgbClr val="0284C7"/>
                </a:solidFill>
                <a:latin typeface="Plus Jakarta Sans"/>
                <a:ea typeface="Plus Jakarta Sans"/>
                <a:cs typeface="Plus Jakarta Sans"/>
                <a:sym typeface="Plus Jakarta Sans"/>
              </a:rPr>
              <a:t>VISÃO GERAL DO DATASET</a:t>
            </a:r>
            <a:endParaRPr/>
          </a:p>
        </p:txBody>
      </p:sp>
      <p:sp>
        <p:nvSpPr>
          <p:cNvPr id="110" name="Google Shape;110;p15"/>
          <p:cNvSpPr txBox="1"/>
          <p:nvPr/>
        </p:nvSpPr>
        <p:spPr>
          <a:xfrm>
            <a:off x="609600" y="704850"/>
            <a:ext cx="11582400" cy="3810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400" u="none" cap="none" strike="noStrike">
                <a:solidFill>
                  <a:srgbClr val="0F172A"/>
                </a:solidFill>
                <a:latin typeface="Plus Jakarta Sans"/>
                <a:ea typeface="Plus Jakarta Sans"/>
                <a:cs typeface="Plus Jakarta Sans"/>
                <a:sym typeface="Plus Jakarta Sans"/>
              </a:rPr>
              <a:t>Estrutura e Significado das Colunas</a:t>
            </a:r>
            <a:endParaRPr/>
          </a:p>
        </p:txBody>
      </p:sp>
      <p:sp>
        <p:nvSpPr>
          <p:cNvPr id="111" name="Google Shape;111;p15"/>
          <p:cNvSpPr txBox="1"/>
          <p:nvPr/>
        </p:nvSpPr>
        <p:spPr>
          <a:xfrm>
            <a:off x="847725" y="3476625"/>
            <a:ext cx="4008899" cy="2190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50" u="none" cap="none" strike="noStrike">
                <a:solidFill>
                  <a:srgbClr val="0F172A"/>
                </a:solidFill>
                <a:latin typeface="Plus Jakarta Sans"/>
                <a:ea typeface="Plus Jakarta Sans"/>
                <a:cs typeface="Plus Jakarta Sans"/>
                <a:sym typeface="Plus Jakarta Sans"/>
              </a:rPr>
              <a:t>Desfecho</a:t>
            </a:r>
            <a:endParaRPr/>
          </a:p>
        </p:txBody>
      </p:sp>
      <p:sp>
        <p:nvSpPr>
          <p:cNvPr id="112" name="Google Shape;112;p15"/>
          <p:cNvSpPr txBox="1"/>
          <p:nvPr/>
        </p:nvSpPr>
        <p:spPr>
          <a:xfrm>
            <a:off x="847725" y="3771900"/>
            <a:ext cx="3817999" cy="1809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125" u="none" cap="none" strike="noStrike">
                <a:solidFill>
                  <a:srgbClr val="475569"/>
                </a:solidFill>
                <a:latin typeface="Plus Jakarta Sans"/>
                <a:ea typeface="Plus Jakarta Sans"/>
                <a:cs typeface="Plus Jakarta Sans"/>
                <a:sym typeface="Plus Jakarta Sans"/>
              </a:rPr>
              <a:t>winner:</a:t>
            </a:r>
            <a:r>
              <a:rPr b="0" i="0" lang="en-US" sz="1125" u="none" cap="none" strike="noStrike">
                <a:solidFill>
                  <a:srgbClr val="475569"/>
                </a:solidFill>
                <a:latin typeface="Plus Jakarta Sans"/>
                <a:ea typeface="Plus Jakarta Sans"/>
                <a:cs typeface="Plus Jakarta Sans"/>
                <a:sym typeface="Plus Jakarta Sans"/>
              </a:rPr>
              <a:t> Vencedor da partida (White/Black).</a:t>
            </a:r>
            <a:endParaRPr/>
          </a:p>
        </p:txBody>
      </p:sp>
      <p:sp>
        <p:nvSpPr>
          <p:cNvPr id="113" name="Google Shape;113;p15"/>
          <p:cNvSpPr txBox="1"/>
          <p:nvPr/>
        </p:nvSpPr>
        <p:spPr>
          <a:xfrm>
            <a:off x="847725" y="4010025"/>
            <a:ext cx="3149649" cy="3619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125" u="none" cap="none" strike="noStrike">
                <a:solidFill>
                  <a:srgbClr val="475569"/>
                </a:solidFill>
                <a:latin typeface="Plus Jakarta Sans"/>
                <a:ea typeface="Plus Jakarta Sans"/>
                <a:cs typeface="Plus Jakarta Sans"/>
                <a:sym typeface="Plus Jakarta Sans"/>
              </a:rPr>
              <a:t>victory_status:</a:t>
            </a:r>
            <a:r>
              <a:rPr b="0" i="0" lang="en-US" sz="1125" u="none" cap="none" strike="noStrike">
                <a:solidFill>
                  <a:srgbClr val="475569"/>
                </a:solidFill>
                <a:latin typeface="Plus Jakarta Sans"/>
                <a:ea typeface="Plus Jakarta Sans"/>
                <a:cs typeface="Plus Jakarta Sans"/>
                <a:sym typeface="Plus Jakarta Sans"/>
              </a:rPr>
              <a:t> Tipo de vitória (Mate, Resign, Out of Time).</a:t>
            </a:r>
            <a:endParaRPr/>
          </a:p>
        </p:txBody>
      </p:sp>
      <p:sp>
        <p:nvSpPr>
          <p:cNvPr id="114" name="Google Shape;114;p15"/>
          <p:cNvSpPr txBox="1"/>
          <p:nvPr/>
        </p:nvSpPr>
        <p:spPr>
          <a:xfrm>
            <a:off x="4568874" y="3476625"/>
            <a:ext cx="4008899" cy="2190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50" u="none" cap="none" strike="noStrike">
                <a:solidFill>
                  <a:srgbClr val="0F172A"/>
                </a:solidFill>
                <a:latin typeface="Plus Jakarta Sans"/>
                <a:ea typeface="Plus Jakarta Sans"/>
                <a:cs typeface="Plus Jakarta Sans"/>
                <a:sym typeface="Plus Jakarta Sans"/>
              </a:rPr>
              <a:t>Métricas e Jogadores</a:t>
            </a:r>
            <a:endParaRPr/>
          </a:p>
        </p:txBody>
      </p:sp>
      <p:sp>
        <p:nvSpPr>
          <p:cNvPr id="115" name="Google Shape;115;p15"/>
          <p:cNvSpPr txBox="1"/>
          <p:nvPr/>
        </p:nvSpPr>
        <p:spPr>
          <a:xfrm>
            <a:off x="4568874" y="3771900"/>
            <a:ext cx="3149649" cy="3619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125" u="none" cap="none" strike="noStrike">
                <a:solidFill>
                  <a:srgbClr val="475569"/>
                </a:solidFill>
                <a:latin typeface="Plus Jakarta Sans"/>
                <a:ea typeface="Plus Jakarta Sans"/>
                <a:cs typeface="Plus Jakarta Sans"/>
                <a:sym typeface="Plus Jakarta Sans"/>
              </a:rPr>
              <a:t>white_rating / black_rating:</a:t>
            </a:r>
            <a:r>
              <a:rPr b="0" i="0" lang="en-US" sz="1125" u="none" cap="none" strike="noStrike">
                <a:solidFill>
                  <a:srgbClr val="475569"/>
                </a:solidFill>
                <a:latin typeface="Plus Jakarta Sans"/>
                <a:ea typeface="Plus Jakarta Sans"/>
                <a:cs typeface="Plus Jakarta Sans"/>
                <a:sym typeface="Plus Jakarta Sans"/>
              </a:rPr>
              <a:t> Pontuação Elo de cada jogador.</a:t>
            </a:r>
            <a:endParaRPr/>
          </a:p>
        </p:txBody>
      </p:sp>
      <p:sp>
        <p:nvSpPr>
          <p:cNvPr id="116" name="Google Shape;116;p15"/>
          <p:cNvSpPr txBox="1"/>
          <p:nvPr/>
        </p:nvSpPr>
        <p:spPr>
          <a:xfrm>
            <a:off x="4568874" y="4191000"/>
            <a:ext cx="3817999" cy="1809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125" u="none" cap="none" strike="noStrike">
                <a:solidFill>
                  <a:srgbClr val="475569"/>
                </a:solidFill>
                <a:latin typeface="Plus Jakarta Sans"/>
                <a:ea typeface="Plus Jakarta Sans"/>
                <a:cs typeface="Plus Jakarta Sans"/>
                <a:sym typeface="Plus Jakarta Sans"/>
              </a:rPr>
              <a:t>turns:</a:t>
            </a:r>
            <a:r>
              <a:rPr b="0" i="0" lang="en-US" sz="1125" u="none" cap="none" strike="noStrike">
                <a:solidFill>
                  <a:srgbClr val="475569"/>
                </a:solidFill>
                <a:latin typeface="Plus Jakarta Sans"/>
                <a:ea typeface="Plus Jakarta Sans"/>
                <a:cs typeface="Plus Jakarta Sans"/>
                <a:sym typeface="Plus Jakarta Sans"/>
              </a:rPr>
              <a:t> Número total de lances efetuados.</a:t>
            </a:r>
            <a:endParaRPr/>
          </a:p>
        </p:txBody>
      </p:sp>
      <p:sp>
        <p:nvSpPr>
          <p:cNvPr id="117" name="Google Shape;117;p15"/>
          <p:cNvSpPr txBox="1"/>
          <p:nvPr/>
        </p:nvSpPr>
        <p:spPr>
          <a:xfrm>
            <a:off x="8290024" y="3476625"/>
            <a:ext cx="3901975" cy="2190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50" u="none" cap="none" strike="noStrike">
                <a:solidFill>
                  <a:srgbClr val="0F172A"/>
                </a:solidFill>
                <a:latin typeface="Plus Jakarta Sans"/>
                <a:ea typeface="Plus Jakarta Sans"/>
                <a:cs typeface="Plus Jakarta Sans"/>
                <a:sym typeface="Plus Jakarta Sans"/>
              </a:rPr>
              <a:t>Abertura</a:t>
            </a:r>
            <a:endParaRPr/>
          </a:p>
        </p:txBody>
      </p:sp>
      <p:sp>
        <p:nvSpPr>
          <p:cNvPr id="118" name="Google Shape;118;p15"/>
          <p:cNvSpPr txBox="1"/>
          <p:nvPr/>
        </p:nvSpPr>
        <p:spPr>
          <a:xfrm>
            <a:off x="8290024" y="3771900"/>
            <a:ext cx="3149649" cy="3619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125" u="none" cap="none" strike="noStrike">
                <a:solidFill>
                  <a:srgbClr val="475569"/>
                </a:solidFill>
                <a:latin typeface="Plus Jakarta Sans"/>
                <a:ea typeface="Plus Jakarta Sans"/>
                <a:cs typeface="Plus Jakarta Sans"/>
                <a:sym typeface="Plus Jakarta Sans"/>
              </a:rPr>
              <a:t>opening_shortname:</a:t>
            </a:r>
            <a:r>
              <a:rPr b="0" i="0" lang="en-US" sz="1125" u="none" cap="none" strike="noStrike">
                <a:solidFill>
                  <a:srgbClr val="475569"/>
                </a:solidFill>
                <a:latin typeface="Plus Jakarta Sans"/>
                <a:ea typeface="Plus Jakarta Sans"/>
                <a:cs typeface="Plus Jakarta Sans"/>
                <a:sym typeface="Plus Jakarta Sans"/>
              </a:rPr>
              <a:t> Nome resumido da linha de abertura jogada.</a:t>
            </a:r>
            <a:endParaRPr/>
          </a:p>
        </p:txBody>
      </p:sp>
      <p:sp>
        <p:nvSpPr>
          <p:cNvPr id="119" name="Google Shape;119;p15"/>
          <p:cNvSpPr txBox="1"/>
          <p:nvPr/>
        </p:nvSpPr>
        <p:spPr>
          <a:xfrm>
            <a:off x="8290024" y="4191000"/>
            <a:ext cx="3149649" cy="3619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125" u="none" cap="none" strike="noStrike">
                <a:solidFill>
                  <a:srgbClr val="475569"/>
                </a:solidFill>
                <a:latin typeface="Plus Jakarta Sans"/>
                <a:ea typeface="Plus Jakarta Sans"/>
                <a:cs typeface="Plus Jakarta Sans"/>
                <a:sym typeface="Plus Jakarta Sans"/>
              </a:rPr>
              <a:t>opening_moves:</a:t>
            </a:r>
            <a:r>
              <a:rPr b="0" i="0" lang="en-US" sz="1125" u="none" cap="none" strike="noStrike">
                <a:solidFill>
                  <a:srgbClr val="475569"/>
                </a:solidFill>
                <a:latin typeface="Plus Jakarta Sans"/>
                <a:ea typeface="Plus Jakarta Sans"/>
                <a:cs typeface="Plus Jakarta Sans"/>
                <a:sym typeface="Plus Jakarta Sans"/>
              </a:rPr>
              <a:t> Sequência inicial de jogadas registradas.</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3" name="Shape 123"/>
        <p:cNvGrpSpPr/>
        <p:nvPr/>
      </p:nvGrpSpPr>
      <p:grpSpPr>
        <a:xfrm>
          <a:off x="0" y="0"/>
          <a:ext cx="0" cy="0"/>
          <a:chOff x="0" y="0"/>
          <a:chExt cx="0" cy="0"/>
        </a:xfrm>
      </p:grpSpPr>
      <p:sp>
        <p:nvSpPr>
          <p:cNvPr id="124" name="Google Shape;124;p16"/>
          <p:cNvSpPr/>
          <p:nvPr/>
        </p:nvSpPr>
        <p:spPr>
          <a:xfrm>
            <a:off x="609600" y="2962275"/>
            <a:ext cx="5372100" cy="1866900"/>
          </a:xfrm>
          <a:prstGeom prst="roundRect">
            <a:avLst>
              <a:gd fmla="val 6122" name="adj"/>
            </a:avLst>
          </a:prstGeom>
          <a:solidFill>
            <a:srgbClr val="F1F5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25" name="Google Shape;125;p16"/>
          <p:cNvSpPr/>
          <p:nvPr/>
        </p:nvSpPr>
        <p:spPr>
          <a:xfrm>
            <a:off x="6210300" y="2962275"/>
            <a:ext cx="5372100" cy="1866900"/>
          </a:xfrm>
          <a:prstGeom prst="roundRect">
            <a:avLst>
              <a:gd fmla="val 6122" name="adj"/>
            </a:avLst>
          </a:prstGeom>
          <a:solidFill>
            <a:srgbClr val="F1F5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26" name="Google Shape;126;p16"/>
          <p:cNvSpPr txBox="1"/>
          <p:nvPr/>
        </p:nvSpPr>
        <p:spPr>
          <a:xfrm>
            <a:off x="609600" y="457200"/>
            <a:ext cx="11582400" cy="1714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050" u="none" cap="none" strike="noStrike">
                <a:solidFill>
                  <a:srgbClr val="0284C7"/>
                </a:solidFill>
                <a:latin typeface="Plus Jakarta Sans"/>
                <a:ea typeface="Plus Jakarta Sans"/>
                <a:cs typeface="Plus Jakarta Sans"/>
                <a:sym typeface="Plus Jakarta Sans"/>
              </a:rPr>
              <a:t>PRÉ-PROCESSAMENTO DE DADOS</a:t>
            </a:r>
            <a:endParaRPr/>
          </a:p>
        </p:txBody>
      </p:sp>
      <p:sp>
        <p:nvSpPr>
          <p:cNvPr id="127" name="Google Shape;127;p16"/>
          <p:cNvSpPr txBox="1"/>
          <p:nvPr/>
        </p:nvSpPr>
        <p:spPr>
          <a:xfrm>
            <a:off x="609600" y="704850"/>
            <a:ext cx="11582400" cy="3810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400" u="none" cap="none" strike="noStrike">
                <a:solidFill>
                  <a:srgbClr val="0F172A"/>
                </a:solidFill>
                <a:latin typeface="Plus Jakarta Sans"/>
                <a:ea typeface="Plus Jakarta Sans"/>
                <a:cs typeface="Plus Jakarta Sans"/>
                <a:sym typeface="Plus Jakarta Sans"/>
              </a:rPr>
              <a:t>Engenharia de Atributos &amp; Variáveis Dummies</a:t>
            </a:r>
            <a:endParaRPr/>
          </a:p>
        </p:txBody>
      </p:sp>
      <p:sp>
        <p:nvSpPr>
          <p:cNvPr id="128" name="Google Shape;128;p16"/>
          <p:cNvSpPr txBox="1"/>
          <p:nvPr/>
        </p:nvSpPr>
        <p:spPr>
          <a:xfrm>
            <a:off x="914400" y="3267075"/>
            <a:ext cx="4857750" cy="1257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050" u="none" cap="none" strike="noStrike">
                <a:solidFill>
                  <a:srgbClr val="0284C7"/>
                </a:solidFill>
                <a:latin typeface="Plus Jakarta Sans"/>
                <a:ea typeface="Plus Jakarta Sans"/>
                <a:cs typeface="Plus Jakarta Sans"/>
                <a:sym typeface="Plus Jakarta Sans"/>
              </a:rPr>
              <a:t>Criado no Projeto</a:t>
            </a:r>
            <a:endParaRPr/>
          </a:p>
        </p:txBody>
      </p:sp>
      <p:sp>
        <p:nvSpPr>
          <p:cNvPr id="129" name="Google Shape;129;p16"/>
          <p:cNvSpPr txBox="1"/>
          <p:nvPr/>
        </p:nvSpPr>
        <p:spPr>
          <a:xfrm>
            <a:off x="6515100" y="3267075"/>
            <a:ext cx="4857750" cy="1257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050" u="none" cap="none" strike="noStrike">
                <a:solidFill>
                  <a:srgbClr val="0284C7"/>
                </a:solidFill>
                <a:latin typeface="Plus Jakarta Sans"/>
                <a:ea typeface="Plus Jakarta Sans"/>
                <a:cs typeface="Plus Jakarta Sans"/>
                <a:sym typeface="Plus Jakarta Sans"/>
              </a:rPr>
              <a:t>Codificação Categorias</a:t>
            </a:r>
            <a:endParaRPr/>
          </a:p>
        </p:txBody>
      </p:sp>
      <p:sp>
        <p:nvSpPr>
          <p:cNvPr id="130" name="Google Shape;130;p16"/>
          <p:cNvSpPr txBox="1"/>
          <p:nvPr/>
        </p:nvSpPr>
        <p:spPr>
          <a:xfrm>
            <a:off x="914400" y="3581400"/>
            <a:ext cx="6250781"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50" u="none" cap="none" strike="noStrike">
                <a:solidFill>
                  <a:srgbClr val="0F172A"/>
                </a:solidFill>
                <a:latin typeface="Plus Jakarta Sans"/>
                <a:ea typeface="Plus Jakarta Sans"/>
                <a:cs typeface="Plus Jakarta Sans"/>
                <a:sym typeface="Plus Jakarta Sans"/>
              </a:rPr>
              <a:t>rating_diff</a:t>
            </a:r>
            <a:endParaRPr/>
          </a:p>
        </p:txBody>
      </p:sp>
      <p:sp>
        <p:nvSpPr>
          <p:cNvPr id="131" name="Google Shape;131;p16"/>
          <p:cNvSpPr txBox="1"/>
          <p:nvPr/>
        </p:nvSpPr>
        <p:spPr>
          <a:xfrm>
            <a:off x="914400" y="3924300"/>
            <a:ext cx="4857750" cy="4000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334155"/>
                </a:solidFill>
                <a:latin typeface="Plus Jakarta Sans"/>
                <a:ea typeface="Plus Jakarta Sans"/>
                <a:cs typeface="Plus Jakarta Sans"/>
                <a:sym typeface="Plus Jakarta Sans"/>
              </a:rPr>
              <a:t>Calcula a diferença direta `white_rating - black_rating`. Representa a vantagem teórica de força antes do jogo começar.</a:t>
            </a:r>
            <a:endParaRPr/>
          </a:p>
        </p:txBody>
      </p:sp>
      <p:sp>
        <p:nvSpPr>
          <p:cNvPr id="132" name="Google Shape;132;p16"/>
          <p:cNvSpPr txBox="1"/>
          <p:nvPr/>
        </p:nvSpPr>
        <p:spPr>
          <a:xfrm>
            <a:off x="6515100" y="3581400"/>
            <a:ext cx="567690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50" u="none" cap="none" strike="noStrike">
                <a:solidFill>
                  <a:srgbClr val="0F172A"/>
                </a:solidFill>
                <a:latin typeface="Plus Jakarta Sans"/>
                <a:ea typeface="Plus Jakarta Sans"/>
                <a:cs typeface="Plus Jakarta Sans"/>
                <a:sym typeface="Plus Jakarta Sans"/>
              </a:rPr>
              <a:t>One-Hot Encoding (Dummies)</a:t>
            </a:r>
            <a:endParaRPr/>
          </a:p>
        </p:txBody>
      </p:sp>
      <p:sp>
        <p:nvSpPr>
          <p:cNvPr id="133" name="Google Shape;133;p16"/>
          <p:cNvSpPr txBox="1"/>
          <p:nvPr/>
        </p:nvSpPr>
        <p:spPr>
          <a:xfrm>
            <a:off x="6515100" y="3924300"/>
            <a:ext cx="4857750" cy="6000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334155"/>
                </a:solidFill>
                <a:latin typeface="Plus Jakarta Sans"/>
                <a:ea typeface="Plus Jakarta Sans"/>
                <a:cs typeface="Plus Jakarta Sans"/>
                <a:sym typeface="Plus Jakarta Sans"/>
              </a:rPr>
              <a:t>Conversão de colunas de texto (`victory_status`, `opening_shortname`) em colunas binárias de 0 e 1 para aceitação matemática dos modelos.</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7" name="Shape 137"/>
        <p:cNvGrpSpPr/>
        <p:nvPr/>
      </p:nvGrpSpPr>
      <p:grpSpPr>
        <a:xfrm>
          <a:off x="0" y="0"/>
          <a:ext cx="0" cy="0"/>
          <a:chOff x="0" y="0"/>
          <a:chExt cx="0" cy="0"/>
        </a:xfrm>
      </p:grpSpPr>
      <p:sp>
        <p:nvSpPr>
          <p:cNvPr id="138" name="Google Shape;138;p17"/>
          <p:cNvSpPr/>
          <p:nvPr/>
        </p:nvSpPr>
        <p:spPr>
          <a:xfrm>
            <a:off x="609600" y="2657475"/>
            <a:ext cx="10972800" cy="428625"/>
          </a:xfrm>
          <a:prstGeom prst="rect">
            <a:avLst/>
          </a:prstGeom>
          <a:solidFill>
            <a:srgbClr val="F8FAF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39" name="Google Shape;139;p17"/>
          <p:cNvSpPr/>
          <p:nvPr/>
        </p:nvSpPr>
        <p:spPr>
          <a:xfrm>
            <a:off x="609600" y="2657475"/>
            <a:ext cx="38100" cy="428625"/>
          </a:xfrm>
          <a:prstGeom prst="rect">
            <a:avLst/>
          </a:prstGeom>
          <a:solidFill>
            <a:srgbClr val="0284C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40" name="Google Shape;140;p17"/>
          <p:cNvSpPr/>
          <p:nvPr/>
        </p:nvSpPr>
        <p:spPr>
          <a:xfrm>
            <a:off x="609600" y="3200400"/>
            <a:ext cx="10972800" cy="428625"/>
          </a:xfrm>
          <a:prstGeom prst="rect">
            <a:avLst/>
          </a:prstGeom>
          <a:solidFill>
            <a:srgbClr val="F8FAF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41" name="Google Shape;141;p17"/>
          <p:cNvSpPr/>
          <p:nvPr/>
        </p:nvSpPr>
        <p:spPr>
          <a:xfrm>
            <a:off x="609600" y="3200400"/>
            <a:ext cx="38100" cy="428625"/>
          </a:xfrm>
          <a:prstGeom prst="rect">
            <a:avLst/>
          </a:prstGeom>
          <a:solidFill>
            <a:srgbClr val="0284C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42" name="Google Shape;142;p17"/>
          <p:cNvSpPr/>
          <p:nvPr/>
        </p:nvSpPr>
        <p:spPr>
          <a:xfrm>
            <a:off x="609600" y="3743325"/>
            <a:ext cx="10972800" cy="428625"/>
          </a:xfrm>
          <a:prstGeom prst="rect">
            <a:avLst/>
          </a:prstGeom>
          <a:solidFill>
            <a:srgbClr val="F8FAF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43" name="Google Shape;143;p17"/>
          <p:cNvSpPr/>
          <p:nvPr/>
        </p:nvSpPr>
        <p:spPr>
          <a:xfrm>
            <a:off x="609600" y="3743325"/>
            <a:ext cx="38100" cy="428625"/>
          </a:xfrm>
          <a:prstGeom prst="rect">
            <a:avLst/>
          </a:prstGeom>
          <a:solidFill>
            <a:srgbClr val="0284C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44" name="Google Shape;144;p17"/>
          <p:cNvSpPr/>
          <p:nvPr/>
        </p:nvSpPr>
        <p:spPr>
          <a:xfrm>
            <a:off x="609600" y="4286250"/>
            <a:ext cx="10972800" cy="428625"/>
          </a:xfrm>
          <a:prstGeom prst="rect">
            <a:avLst/>
          </a:prstGeom>
          <a:solidFill>
            <a:srgbClr val="F8FAF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45" name="Google Shape;145;p17"/>
          <p:cNvSpPr/>
          <p:nvPr/>
        </p:nvSpPr>
        <p:spPr>
          <a:xfrm>
            <a:off x="609600" y="4286250"/>
            <a:ext cx="38100" cy="428625"/>
          </a:xfrm>
          <a:prstGeom prst="rect">
            <a:avLst/>
          </a:prstGeom>
          <a:solidFill>
            <a:srgbClr val="0284C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46" name="Google Shape;146;p17"/>
          <p:cNvSpPr txBox="1"/>
          <p:nvPr/>
        </p:nvSpPr>
        <p:spPr>
          <a:xfrm>
            <a:off x="609600" y="457200"/>
            <a:ext cx="11582400" cy="1714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050" u="none" cap="none" strike="noStrike">
                <a:solidFill>
                  <a:srgbClr val="0284C7"/>
                </a:solidFill>
                <a:latin typeface="Plus Jakarta Sans"/>
                <a:ea typeface="Plus Jakarta Sans"/>
                <a:cs typeface="Plus Jakarta Sans"/>
                <a:sym typeface="Plus Jakarta Sans"/>
              </a:rPr>
              <a:t>ANÁLISE EXPLORATÓRIA</a:t>
            </a:r>
            <a:endParaRPr/>
          </a:p>
        </p:txBody>
      </p:sp>
      <p:sp>
        <p:nvSpPr>
          <p:cNvPr id="147" name="Google Shape;147;p17"/>
          <p:cNvSpPr txBox="1"/>
          <p:nvPr/>
        </p:nvSpPr>
        <p:spPr>
          <a:xfrm>
            <a:off x="609600" y="704850"/>
            <a:ext cx="11582400" cy="3810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400" u="none" cap="none" strike="noStrike">
                <a:solidFill>
                  <a:srgbClr val="0F172A"/>
                </a:solidFill>
                <a:latin typeface="Plus Jakarta Sans"/>
                <a:ea typeface="Plus Jakarta Sans"/>
                <a:cs typeface="Plus Jakarta Sans"/>
                <a:sym typeface="Plus Jakarta Sans"/>
              </a:rPr>
              <a:t>Perguntas de Negócio Avaliadas</a:t>
            </a:r>
            <a:endParaRPr/>
          </a:p>
        </p:txBody>
      </p:sp>
      <p:sp>
        <p:nvSpPr>
          <p:cNvPr id="148" name="Google Shape;148;p17"/>
          <p:cNvSpPr txBox="1"/>
          <p:nvPr/>
        </p:nvSpPr>
        <p:spPr>
          <a:xfrm>
            <a:off x="800100" y="2771775"/>
            <a:ext cx="10687050" cy="2000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200" u="none" cap="none" strike="noStrike">
                <a:solidFill>
                  <a:srgbClr val="0F172A"/>
                </a:solidFill>
                <a:latin typeface="Plus Jakarta Sans"/>
                <a:ea typeface="Plus Jakarta Sans"/>
                <a:cs typeface="Plus Jakarta Sans"/>
                <a:sym typeface="Plus Jakarta Sans"/>
              </a:rPr>
              <a:t>1. Jogar com as Brancas dá vantagem? </a:t>
            </a:r>
            <a:r>
              <a:rPr b="1" i="0" lang="en-US" sz="1200" u="none" cap="none" strike="noStrike">
                <a:solidFill>
                  <a:srgbClr val="475569"/>
                </a:solidFill>
                <a:latin typeface="Plus Jakarta Sans"/>
                <a:ea typeface="Plus Jakarta Sans"/>
                <a:cs typeface="Plus Jakarta Sans"/>
                <a:sym typeface="Plus Jakarta Sans"/>
              </a:rPr>
              <a:t>Sim, White possui taxa de vitória levemente superior (~52%).</a:t>
            </a:r>
            <a:endParaRPr/>
          </a:p>
        </p:txBody>
      </p:sp>
      <p:sp>
        <p:nvSpPr>
          <p:cNvPr id="149" name="Google Shape;149;p17"/>
          <p:cNvSpPr txBox="1"/>
          <p:nvPr/>
        </p:nvSpPr>
        <p:spPr>
          <a:xfrm>
            <a:off x="800100" y="3314700"/>
            <a:ext cx="10687050" cy="2000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200" u="none" cap="none" strike="noStrike">
                <a:solidFill>
                  <a:srgbClr val="0F172A"/>
                </a:solidFill>
                <a:latin typeface="Plus Jakarta Sans"/>
                <a:ea typeface="Plus Jakarta Sans"/>
                <a:cs typeface="Plus Jakarta Sans"/>
                <a:sym typeface="Plus Jakarta Sans"/>
              </a:rPr>
              <a:t>2. A diferença de Rating determina o vencedor? </a:t>
            </a:r>
            <a:r>
              <a:rPr b="1" i="0" lang="en-US" sz="1200" u="none" cap="none" strike="noStrike">
                <a:solidFill>
                  <a:srgbClr val="475569"/>
                </a:solidFill>
                <a:latin typeface="Plus Jakarta Sans"/>
                <a:ea typeface="Plus Jakarta Sans"/>
                <a:cs typeface="Plus Jakarta Sans"/>
                <a:sym typeface="Plus Jakarta Sans"/>
              </a:rPr>
              <a:t>É o fator mais correlacionado e de maior impacto nos modelos.</a:t>
            </a:r>
            <a:endParaRPr/>
          </a:p>
        </p:txBody>
      </p:sp>
      <p:sp>
        <p:nvSpPr>
          <p:cNvPr id="150" name="Google Shape;150;p17"/>
          <p:cNvSpPr txBox="1"/>
          <p:nvPr/>
        </p:nvSpPr>
        <p:spPr>
          <a:xfrm>
            <a:off x="800100" y="3857625"/>
            <a:ext cx="10687050" cy="2000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200" u="none" cap="none" strike="noStrike">
                <a:solidFill>
                  <a:srgbClr val="0F172A"/>
                </a:solidFill>
                <a:latin typeface="Plus Jakarta Sans"/>
                <a:ea typeface="Plus Jakarta Sans"/>
                <a:cs typeface="Plus Jakarta Sans"/>
                <a:sym typeface="Plus Jakarta Sans"/>
              </a:rPr>
              <a:t>3. Certas aberturas aumentam chances de vitória? </a:t>
            </a:r>
            <a:r>
              <a:rPr b="1" i="0" lang="en-US" sz="1200" u="none" cap="none" strike="noStrike">
                <a:solidFill>
                  <a:srgbClr val="475569"/>
                </a:solidFill>
                <a:latin typeface="Plus Jakarta Sans"/>
                <a:ea typeface="Plus Jakarta Sans"/>
                <a:cs typeface="Plus Jakarta Sans"/>
                <a:sym typeface="Plus Jakarta Sans"/>
              </a:rPr>
              <a:t>Aberturas específicas alteram moderadamente a taxa de vitória esperada.</a:t>
            </a:r>
            <a:endParaRPr/>
          </a:p>
        </p:txBody>
      </p:sp>
      <p:sp>
        <p:nvSpPr>
          <p:cNvPr id="151" name="Google Shape;151;p17"/>
          <p:cNvSpPr txBox="1"/>
          <p:nvPr/>
        </p:nvSpPr>
        <p:spPr>
          <a:xfrm>
            <a:off x="800100" y="4400550"/>
            <a:ext cx="10687050" cy="2000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200" u="none" cap="none" strike="noStrike">
                <a:solidFill>
                  <a:srgbClr val="0F172A"/>
                </a:solidFill>
                <a:latin typeface="Plus Jakarta Sans"/>
                <a:ea typeface="Plus Jakarta Sans"/>
                <a:cs typeface="Plus Jakarta Sans"/>
                <a:sym typeface="Plus Jakarta Sans"/>
              </a:rPr>
              <a:t>4. Qual o método de terminação mais frequente? </a:t>
            </a:r>
            <a:r>
              <a:rPr b="1" i="0" lang="en-US" sz="1200" u="none" cap="none" strike="noStrike">
                <a:solidFill>
                  <a:srgbClr val="475569"/>
                </a:solidFill>
                <a:latin typeface="Plus Jakarta Sans"/>
                <a:ea typeface="Plus Jakarta Sans"/>
                <a:cs typeface="Plus Jakarta Sans"/>
                <a:sym typeface="Plus Jakarta Sans"/>
              </a:rPr>
              <a:t>Desistência (Resign) supera o Xeque-mate em partidas ranqueadas.</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5" name="Shape 155"/>
        <p:cNvGrpSpPr/>
        <p:nvPr/>
      </p:nvGrpSpPr>
      <p:grpSpPr>
        <a:xfrm>
          <a:off x="0" y="0"/>
          <a:ext cx="0" cy="0"/>
          <a:chOff x="0" y="0"/>
          <a:chExt cx="0" cy="0"/>
        </a:xfrm>
      </p:grpSpPr>
      <p:sp>
        <p:nvSpPr>
          <p:cNvPr id="156" name="Google Shape;156;p18"/>
          <p:cNvSpPr/>
          <p:nvPr/>
        </p:nvSpPr>
        <p:spPr>
          <a:xfrm>
            <a:off x="609600" y="3219450"/>
            <a:ext cx="3530649" cy="1352550"/>
          </a:xfrm>
          <a:prstGeom prst="roundRect">
            <a:avLst>
              <a:gd fmla="val 5633" name="adj"/>
            </a:avLst>
          </a:prstGeom>
          <a:solidFill>
            <a:srgbClr val="F8FAF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57" name="Google Shape;157;p18"/>
          <p:cNvSpPr/>
          <p:nvPr/>
        </p:nvSpPr>
        <p:spPr>
          <a:xfrm>
            <a:off x="4330749" y="3219450"/>
            <a:ext cx="3530649" cy="1352550"/>
          </a:xfrm>
          <a:prstGeom prst="roundRect">
            <a:avLst>
              <a:gd fmla="val 5633" name="adj"/>
            </a:avLst>
          </a:prstGeom>
          <a:solidFill>
            <a:srgbClr val="F8FAF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58" name="Google Shape;158;p18"/>
          <p:cNvSpPr/>
          <p:nvPr/>
        </p:nvSpPr>
        <p:spPr>
          <a:xfrm>
            <a:off x="8051899" y="3219450"/>
            <a:ext cx="3530649" cy="1352550"/>
          </a:xfrm>
          <a:prstGeom prst="roundRect">
            <a:avLst>
              <a:gd fmla="val 5633" name="adj"/>
            </a:avLst>
          </a:prstGeom>
          <a:solidFill>
            <a:srgbClr val="F8FAF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59" name="Google Shape;159;p18"/>
          <p:cNvSpPr/>
          <p:nvPr/>
        </p:nvSpPr>
        <p:spPr>
          <a:xfrm>
            <a:off x="609600" y="3219450"/>
            <a:ext cx="3530649" cy="38100"/>
          </a:xfrm>
          <a:prstGeom prst="rect">
            <a:avLst/>
          </a:prstGeom>
          <a:solidFill>
            <a:srgbClr val="0284C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60" name="Google Shape;160;p18"/>
          <p:cNvSpPr/>
          <p:nvPr/>
        </p:nvSpPr>
        <p:spPr>
          <a:xfrm>
            <a:off x="4330749" y="3219450"/>
            <a:ext cx="3530649" cy="38100"/>
          </a:xfrm>
          <a:prstGeom prst="rect">
            <a:avLst/>
          </a:prstGeom>
          <a:solidFill>
            <a:srgbClr val="0284C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61" name="Google Shape;161;p18"/>
          <p:cNvSpPr/>
          <p:nvPr/>
        </p:nvSpPr>
        <p:spPr>
          <a:xfrm>
            <a:off x="8051899" y="3219450"/>
            <a:ext cx="3530649" cy="38100"/>
          </a:xfrm>
          <a:prstGeom prst="rect">
            <a:avLst/>
          </a:prstGeom>
          <a:solidFill>
            <a:srgbClr val="0284C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62" name="Google Shape;162;p18"/>
          <p:cNvSpPr txBox="1"/>
          <p:nvPr/>
        </p:nvSpPr>
        <p:spPr>
          <a:xfrm>
            <a:off x="609600" y="457200"/>
            <a:ext cx="11582400" cy="1714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050" u="none" cap="none" strike="noStrike">
                <a:solidFill>
                  <a:srgbClr val="0284C7"/>
                </a:solidFill>
                <a:latin typeface="Plus Jakarta Sans"/>
                <a:ea typeface="Plus Jakarta Sans"/>
                <a:cs typeface="Plus Jakarta Sans"/>
                <a:sym typeface="Plus Jakarta Sans"/>
              </a:rPr>
              <a:t>MODELAGEM ALGORÍTMICA</a:t>
            </a:r>
            <a:endParaRPr/>
          </a:p>
        </p:txBody>
      </p:sp>
      <p:sp>
        <p:nvSpPr>
          <p:cNvPr id="163" name="Google Shape;163;p18"/>
          <p:cNvSpPr txBox="1"/>
          <p:nvPr/>
        </p:nvSpPr>
        <p:spPr>
          <a:xfrm>
            <a:off x="609600" y="704850"/>
            <a:ext cx="11582400" cy="3810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400" u="none" cap="none" strike="noStrike">
                <a:solidFill>
                  <a:srgbClr val="0F172A"/>
                </a:solidFill>
                <a:latin typeface="Plus Jakarta Sans"/>
                <a:ea typeface="Plus Jakarta Sans"/>
                <a:cs typeface="Plus Jakarta Sans"/>
                <a:sym typeface="Plus Jakarta Sans"/>
              </a:rPr>
              <a:t>Algoritmos de Classificação Utilizados</a:t>
            </a:r>
            <a:endParaRPr/>
          </a:p>
        </p:txBody>
      </p:sp>
      <p:sp>
        <p:nvSpPr>
          <p:cNvPr id="164" name="Google Shape;164;p18"/>
          <p:cNvSpPr txBox="1"/>
          <p:nvPr/>
        </p:nvSpPr>
        <p:spPr>
          <a:xfrm>
            <a:off x="838200" y="3486150"/>
            <a:ext cx="4033902" cy="2381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500" u="none" cap="none" strike="noStrike">
                <a:solidFill>
                  <a:srgbClr val="0F172A"/>
                </a:solidFill>
                <a:latin typeface="Plus Jakarta Sans"/>
                <a:ea typeface="Plus Jakarta Sans"/>
                <a:cs typeface="Plus Jakarta Sans"/>
                <a:sym typeface="Plus Jakarta Sans"/>
              </a:rPr>
              <a:t>Árvore de Decisão</a:t>
            </a:r>
            <a:endParaRPr/>
          </a:p>
        </p:txBody>
      </p:sp>
      <p:sp>
        <p:nvSpPr>
          <p:cNvPr id="165" name="Google Shape;165;p18"/>
          <p:cNvSpPr txBox="1"/>
          <p:nvPr/>
        </p:nvSpPr>
        <p:spPr>
          <a:xfrm>
            <a:off x="838200" y="3800475"/>
            <a:ext cx="3168699" cy="5429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125" u="none" cap="none" strike="noStrike">
                <a:solidFill>
                  <a:srgbClr val="475569"/>
                </a:solidFill>
                <a:latin typeface="Plus Jakarta Sans"/>
                <a:ea typeface="Plus Jakarta Sans"/>
                <a:cs typeface="Plus Jakarta Sans"/>
                <a:sym typeface="Plus Jakarta Sans"/>
              </a:rPr>
              <a:t>Divide o conjunto de dados em regras condicionais sequenciais com base nas variáveis de maior ganho de informação.</a:t>
            </a:r>
            <a:endParaRPr/>
          </a:p>
        </p:txBody>
      </p:sp>
      <p:sp>
        <p:nvSpPr>
          <p:cNvPr id="166" name="Google Shape;166;p18"/>
          <p:cNvSpPr txBox="1"/>
          <p:nvPr/>
        </p:nvSpPr>
        <p:spPr>
          <a:xfrm>
            <a:off x="4559349" y="3486150"/>
            <a:ext cx="4033902" cy="2381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500" u="none" cap="none" strike="noStrike">
                <a:solidFill>
                  <a:srgbClr val="0F172A"/>
                </a:solidFill>
                <a:latin typeface="Plus Jakarta Sans"/>
                <a:ea typeface="Plus Jakarta Sans"/>
                <a:cs typeface="Plus Jakarta Sans"/>
                <a:sym typeface="Plus Jakarta Sans"/>
              </a:rPr>
              <a:t>Naive Bayes</a:t>
            </a:r>
            <a:endParaRPr/>
          </a:p>
        </p:txBody>
      </p:sp>
      <p:sp>
        <p:nvSpPr>
          <p:cNvPr id="167" name="Google Shape;167;p18"/>
          <p:cNvSpPr txBox="1"/>
          <p:nvPr/>
        </p:nvSpPr>
        <p:spPr>
          <a:xfrm>
            <a:off x="4559349" y="3800475"/>
            <a:ext cx="3168699" cy="5429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125" u="none" cap="none" strike="noStrike">
                <a:solidFill>
                  <a:srgbClr val="475569"/>
                </a:solidFill>
                <a:latin typeface="Plus Jakarta Sans"/>
                <a:ea typeface="Plus Jakarta Sans"/>
                <a:cs typeface="Plus Jakarta Sans"/>
                <a:sym typeface="Plus Jakarta Sans"/>
              </a:rPr>
              <a:t>Modelo probabilístico baseado no Teorema de Bayes com suposição de independência entre atributos.</a:t>
            </a:r>
            <a:endParaRPr/>
          </a:p>
        </p:txBody>
      </p:sp>
      <p:sp>
        <p:nvSpPr>
          <p:cNvPr id="168" name="Google Shape;168;p18"/>
          <p:cNvSpPr txBox="1"/>
          <p:nvPr/>
        </p:nvSpPr>
        <p:spPr>
          <a:xfrm>
            <a:off x="8280499" y="3486150"/>
            <a:ext cx="3911500" cy="2381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500" u="none" cap="none" strike="noStrike">
                <a:solidFill>
                  <a:srgbClr val="0F172A"/>
                </a:solidFill>
                <a:latin typeface="Plus Jakarta Sans"/>
                <a:ea typeface="Plus Jakarta Sans"/>
                <a:cs typeface="Plus Jakarta Sans"/>
                <a:sym typeface="Plus Jakarta Sans"/>
              </a:rPr>
              <a:t>Regressão Logística</a:t>
            </a:r>
            <a:endParaRPr/>
          </a:p>
        </p:txBody>
      </p:sp>
      <p:sp>
        <p:nvSpPr>
          <p:cNvPr id="169" name="Google Shape;169;p18"/>
          <p:cNvSpPr txBox="1"/>
          <p:nvPr/>
        </p:nvSpPr>
        <p:spPr>
          <a:xfrm>
            <a:off x="8280499" y="3800475"/>
            <a:ext cx="3168699" cy="5429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125" u="none" cap="none" strike="noStrike">
                <a:solidFill>
                  <a:srgbClr val="475569"/>
                </a:solidFill>
                <a:latin typeface="Plus Jakarta Sans"/>
                <a:ea typeface="Plus Jakarta Sans"/>
                <a:cs typeface="Plus Jakarta Sans"/>
                <a:sym typeface="Plus Jakarta Sans"/>
              </a:rPr>
              <a:t>Modelagem linear com função sigmoide para estimar a probabilidade de vitória de White (0 a 1).</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3" name="Shape 173"/>
        <p:cNvGrpSpPr/>
        <p:nvPr/>
      </p:nvGrpSpPr>
      <p:grpSpPr>
        <a:xfrm>
          <a:off x="0" y="0"/>
          <a:ext cx="0" cy="0"/>
          <a:chOff x="0" y="0"/>
          <a:chExt cx="0" cy="0"/>
        </a:xfrm>
      </p:grpSpPr>
      <p:sp>
        <p:nvSpPr>
          <p:cNvPr id="174" name="Google Shape;174;p19"/>
          <p:cNvSpPr/>
          <p:nvPr/>
        </p:nvSpPr>
        <p:spPr>
          <a:xfrm>
            <a:off x="609600" y="2924175"/>
            <a:ext cx="3552378" cy="962025"/>
          </a:xfrm>
          <a:prstGeom prst="roundRect">
            <a:avLst>
              <a:gd fmla="val 7920" name="adj"/>
            </a:avLst>
          </a:prstGeom>
          <a:solidFill>
            <a:srgbClr val="F1F5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75" name="Google Shape;175;p19"/>
          <p:cNvSpPr/>
          <p:nvPr/>
        </p:nvSpPr>
        <p:spPr>
          <a:xfrm>
            <a:off x="4314378" y="2924175"/>
            <a:ext cx="3552378" cy="962025"/>
          </a:xfrm>
          <a:prstGeom prst="roundRect">
            <a:avLst>
              <a:gd fmla="val 7920" name="adj"/>
            </a:avLst>
          </a:prstGeom>
          <a:solidFill>
            <a:srgbClr val="F1F5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76" name="Google Shape;176;p19"/>
          <p:cNvSpPr/>
          <p:nvPr/>
        </p:nvSpPr>
        <p:spPr>
          <a:xfrm>
            <a:off x="8019157" y="2924175"/>
            <a:ext cx="3552378" cy="962025"/>
          </a:xfrm>
          <a:prstGeom prst="roundRect">
            <a:avLst>
              <a:gd fmla="val 7920" name="adj"/>
            </a:avLst>
          </a:prstGeom>
          <a:solidFill>
            <a:srgbClr val="F1F5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77" name="Google Shape;177;p19"/>
          <p:cNvSpPr/>
          <p:nvPr/>
        </p:nvSpPr>
        <p:spPr>
          <a:xfrm>
            <a:off x="609600" y="4038600"/>
            <a:ext cx="5410200" cy="790575"/>
          </a:xfrm>
          <a:prstGeom prst="roundRect">
            <a:avLst>
              <a:gd fmla="val 9638" name="adj"/>
            </a:avLst>
          </a:prstGeom>
          <a:solidFill>
            <a:srgbClr val="F1F5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78" name="Google Shape;178;p19"/>
          <p:cNvSpPr/>
          <p:nvPr/>
        </p:nvSpPr>
        <p:spPr>
          <a:xfrm>
            <a:off x="6172200" y="4038600"/>
            <a:ext cx="5410200" cy="790575"/>
          </a:xfrm>
          <a:prstGeom prst="roundRect">
            <a:avLst>
              <a:gd fmla="val 9638" name="adj"/>
            </a:avLst>
          </a:prstGeom>
          <a:solidFill>
            <a:srgbClr val="F1F5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79" name="Google Shape;179;p19"/>
          <p:cNvSpPr txBox="1"/>
          <p:nvPr/>
        </p:nvSpPr>
        <p:spPr>
          <a:xfrm>
            <a:off x="609600" y="457200"/>
            <a:ext cx="11582400" cy="1714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050" u="none" cap="none" strike="noStrike">
                <a:solidFill>
                  <a:srgbClr val="0284C7"/>
                </a:solidFill>
                <a:latin typeface="Plus Jakarta Sans"/>
                <a:ea typeface="Plus Jakarta Sans"/>
                <a:cs typeface="Plus Jakarta Sans"/>
                <a:sym typeface="Plus Jakarta Sans"/>
              </a:rPr>
              <a:t>CONCEITOS TEÓRICOS</a:t>
            </a:r>
            <a:endParaRPr/>
          </a:p>
        </p:txBody>
      </p:sp>
      <p:sp>
        <p:nvSpPr>
          <p:cNvPr id="180" name="Google Shape;180;p19"/>
          <p:cNvSpPr txBox="1"/>
          <p:nvPr/>
        </p:nvSpPr>
        <p:spPr>
          <a:xfrm>
            <a:off x="609600" y="704850"/>
            <a:ext cx="11582400" cy="3810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400" u="none" cap="none" strike="noStrike">
                <a:solidFill>
                  <a:srgbClr val="0F172A"/>
                </a:solidFill>
                <a:latin typeface="Plus Jakarta Sans"/>
                <a:ea typeface="Plus Jakarta Sans"/>
                <a:cs typeface="Plus Jakarta Sans"/>
                <a:sym typeface="Plus Jakarta Sans"/>
              </a:rPr>
              <a:t>Métricas de Avaliação de Desempenho</a:t>
            </a:r>
            <a:endParaRPr/>
          </a:p>
        </p:txBody>
      </p:sp>
      <p:sp>
        <p:nvSpPr>
          <p:cNvPr id="181" name="Google Shape;181;p19"/>
          <p:cNvSpPr txBox="1"/>
          <p:nvPr/>
        </p:nvSpPr>
        <p:spPr>
          <a:xfrm>
            <a:off x="800100" y="3114675"/>
            <a:ext cx="4162434" cy="2000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200" u="none" cap="none" strike="noStrike">
                <a:solidFill>
                  <a:srgbClr val="0F172A"/>
                </a:solidFill>
                <a:latin typeface="Plus Jakarta Sans"/>
                <a:ea typeface="Plus Jakarta Sans"/>
                <a:cs typeface="Plus Jakarta Sans"/>
                <a:sym typeface="Plus Jakarta Sans"/>
              </a:rPr>
              <a:t>Acurácia</a:t>
            </a:r>
            <a:endParaRPr/>
          </a:p>
        </p:txBody>
      </p:sp>
      <p:sp>
        <p:nvSpPr>
          <p:cNvPr id="182" name="Google Shape;182;p19"/>
          <p:cNvSpPr txBox="1"/>
          <p:nvPr/>
        </p:nvSpPr>
        <p:spPr>
          <a:xfrm>
            <a:off x="800100" y="3352800"/>
            <a:ext cx="3266628" cy="342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050" u="none" cap="none" strike="noStrike">
                <a:solidFill>
                  <a:srgbClr val="475569"/>
                </a:solidFill>
                <a:latin typeface="Plus Jakarta Sans"/>
                <a:ea typeface="Plus Jakarta Sans"/>
                <a:cs typeface="Plus Jakarta Sans"/>
                <a:sym typeface="Plus Jakarta Sans"/>
              </a:rPr>
              <a:t>Proporção geral de predições corretas do modelo.</a:t>
            </a:r>
            <a:endParaRPr/>
          </a:p>
        </p:txBody>
      </p:sp>
      <p:sp>
        <p:nvSpPr>
          <p:cNvPr id="183" name="Google Shape;183;p19"/>
          <p:cNvSpPr txBox="1"/>
          <p:nvPr/>
        </p:nvSpPr>
        <p:spPr>
          <a:xfrm>
            <a:off x="4504878" y="3114675"/>
            <a:ext cx="4162434" cy="2000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200" u="none" cap="none" strike="noStrike">
                <a:solidFill>
                  <a:srgbClr val="0F172A"/>
                </a:solidFill>
                <a:latin typeface="Plus Jakarta Sans"/>
                <a:ea typeface="Plus Jakarta Sans"/>
                <a:cs typeface="Plus Jakarta Sans"/>
                <a:sym typeface="Plus Jakarta Sans"/>
              </a:rPr>
              <a:t>Precisão</a:t>
            </a:r>
            <a:endParaRPr/>
          </a:p>
        </p:txBody>
      </p:sp>
      <p:sp>
        <p:nvSpPr>
          <p:cNvPr id="184" name="Google Shape;184;p19"/>
          <p:cNvSpPr txBox="1"/>
          <p:nvPr/>
        </p:nvSpPr>
        <p:spPr>
          <a:xfrm>
            <a:off x="4504878" y="3352800"/>
            <a:ext cx="3266628" cy="342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050" u="none" cap="none" strike="noStrike">
                <a:solidFill>
                  <a:srgbClr val="475569"/>
                </a:solidFill>
                <a:latin typeface="Plus Jakarta Sans"/>
                <a:ea typeface="Plus Jakarta Sans"/>
                <a:cs typeface="Plus Jakarta Sans"/>
                <a:sym typeface="Plus Jakarta Sans"/>
              </a:rPr>
              <a:t>Das vitórias previsoras para White, quantas realmente ocorreram.</a:t>
            </a:r>
            <a:endParaRPr/>
          </a:p>
        </p:txBody>
      </p:sp>
      <p:sp>
        <p:nvSpPr>
          <p:cNvPr id="185" name="Google Shape;185;p19"/>
          <p:cNvSpPr txBox="1"/>
          <p:nvPr/>
        </p:nvSpPr>
        <p:spPr>
          <a:xfrm>
            <a:off x="8209657" y="3114675"/>
            <a:ext cx="3982342" cy="2000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200" u="none" cap="none" strike="noStrike">
                <a:solidFill>
                  <a:srgbClr val="0F172A"/>
                </a:solidFill>
                <a:latin typeface="Plus Jakarta Sans"/>
                <a:ea typeface="Plus Jakarta Sans"/>
                <a:cs typeface="Plus Jakarta Sans"/>
                <a:sym typeface="Plus Jakarta Sans"/>
              </a:rPr>
              <a:t>Recall</a:t>
            </a:r>
            <a:endParaRPr/>
          </a:p>
        </p:txBody>
      </p:sp>
      <p:sp>
        <p:nvSpPr>
          <p:cNvPr id="186" name="Google Shape;186;p19"/>
          <p:cNvSpPr txBox="1"/>
          <p:nvPr/>
        </p:nvSpPr>
        <p:spPr>
          <a:xfrm>
            <a:off x="8209657" y="3352800"/>
            <a:ext cx="3266628" cy="342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050" u="none" cap="none" strike="noStrike">
                <a:solidFill>
                  <a:srgbClr val="475569"/>
                </a:solidFill>
                <a:latin typeface="Plus Jakarta Sans"/>
                <a:ea typeface="Plus Jakarta Sans"/>
                <a:cs typeface="Plus Jakarta Sans"/>
                <a:sym typeface="Plus Jakarta Sans"/>
              </a:rPr>
              <a:t>Das vitórias reais de White, quantas foram identificadas.</a:t>
            </a:r>
            <a:endParaRPr/>
          </a:p>
        </p:txBody>
      </p:sp>
      <p:sp>
        <p:nvSpPr>
          <p:cNvPr id="187" name="Google Shape;187;p19"/>
          <p:cNvSpPr txBox="1"/>
          <p:nvPr/>
        </p:nvSpPr>
        <p:spPr>
          <a:xfrm>
            <a:off x="800100" y="4229100"/>
            <a:ext cx="6600825" cy="2000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200" u="none" cap="none" strike="noStrike">
                <a:solidFill>
                  <a:srgbClr val="0F172A"/>
                </a:solidFill>
                <a:latin typeface="Plus Jakarta Sans"/>
                <a:ea typeface="Plus Jakarta Sans"/>
                <a:cs typeface="Plus Jakarta Sans"/>
                <a:sym typeface="Plus Jakarta Sans"/>
              </a:rPr>
              <a:t>Matriz de Confusão</a:t>
            </a:r>
            <a:endParaRPr/>
          </a:p>
        </p:txBody>
      </p:sp>
      <p:sp>
        <p:nvSpPr>
          <p:cNvPr id="188" name="Google Shape;188;p19"/>
          <p:cNvSpPr txBox="1"/>
          <p:nvPr/>
        </p:nvSpPr>
        <p:spPr>
          <a:xfrm>
            <a:off x="800100" y="4467225"/>
            <a:ext cx="6286500" cy="1714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050" u="none" cap="none" strike="noStrike">
                <a:solidFill>
                  <a:srgbClr val="475569"/>
                </a:solidFill>
                <a:latin typeface="Plus Jakarta Sans"/>
                <a:ea typeface="Plus Jakarta Sans"/>
                <a:cs typeface="Plus Jakarta Sans"/>
                <a:sym typeface="Plus Jakarta Sans"/>
              </a:rPr>
              <a:t>Tabela detalhada entre classes reais e predições (VP, VN, FP, FN).</a:t>
            </a:r>
            <a:endParaRPr/>
          </a:p>
        </p:txBody>
      </p:sp>
      <p:sp>
        <p:nvSpPr>
          <p:cNvPr id="189" name="Google Shape;189;p19"/>
          <p:cNvSpPr txBox="1"/>
          <p:nvPr/>
        </p:nvSpPr>
        <p:spPr>
          <a:xfrm>
            <a:off x="6362700" y="4229100"/>
            <a:ext cx="5829300" cy="2000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200" u="none" cap="none" strike="noStrike">
                <a:solidFill>
                  <a:srgbClr val="0F172A"/>
                </a:solidFill>
                <a:latin typeface="Plus Jakarta Sans"/>
                <a:ea typeface="Plus Jakarta Sans"/>
                <a:cs typeface="Plus Jakarta Sans"/>
                <a:sym typeface="Plus Jakarta Sans"/>
              </a:rPr>
              <a:t>AUC (Área Sob a Curva)</a:t>
            </a:r>
            <a:endParaRPr/>
          </a:p>
        </p:txBody>
      </p:sp>
      <p:sp>
        <p:nvSpPr>
          <p:cNvPr id="190" name="Google Shape;190;p19"/>
          <p:cNvSpPr txBox="1"/>
          <p:nvPr/>
        </p:nvSpPr>
        <p:spPr>
          <a:xfrm>
            <a:off x="6362700" y="4467225"/>
            <a:ext cx="5829300" cy="1714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050" u="none" cap="none" strike="noStrike">
                <a:solidFill>
                  <a:srgbClr val="475569"/>
                </a:solidFill>
                <a:latin typeface="Plus Jakarta Sans"/>
                <a:ea typeface="Plus Jakarta Sans"/>
                <a:cs typeface="Plus Jakarta Sans"/>
                <a:sym typeface="Plus Jakarta Sans"/>
              </a:rPr>
              <a:t>Capacidade de discriminação do modelo entre vitórias e derrotas (0.5 a 1.0).</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94" name="Shape 194"/>
        <p:cNvGrpSpPr/>
        <p:nvPr/>
      </p:nvGrpSpPr>
      <p:grpSpPr>
        <a:xfrm>
          <a:off x="0" y="0"/>
          <a:ext cx="0" cy="0"/>
          <a:chOff x="0" y="0"/>
          <a:chExt cx="0" cy="0"/>
        </a:xfrm>
      </p:grpSpPr>
      <p:sp>
        <p:nvSpPr>
          <p:cNvPr id="195" name="Google Shape;195;p20"/>
          <p:cNvSpPr/>
          <p:nvPr/>
        </p:nvSpPr>
        <p:spPr>
          <a:xfrm>
            <a:off x="7702599" y="2957512"/>
            <a:ext cx="3879800" cy="1762125"/>
          </a:xfrm>
          <a:prstGeom prst="roundRect">
            <a:avLst>
              <a:gd fmla="val 6486" name="adj"/>
            </a:avLst>
          </a:prstGeom>
          <a:solidFill>
            <a:srgbClr val="F8FAF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image.png" id="196" name="Google Shape;196;p20"/>
          <p:cNvPicPr preferRelativeResize="0"/>
          <p:nvPr/>
        </p:nvPicPr>
        <p:blipFill rotWithShape="1">
          <a:blip r:embed="rId3">
            <a:alphaModFix/>
          </a:blip>
          <a:srcRect b="0" l="0" r="0" t="0"/>
          <a:stretch/>
        </p:blipFill>
        <p:spPr>
          <a:xfrm>
            <a:off x="609600" y="1838325"/>
            <a:ext cx="6864399" cy="4000500"/>
          </a:xfrm>
          <a:prstGeom prst="rect">
            <a:avLst/>
          </a:prstGeom>
          <a:noFill/>
          <a:ln>
            <a:noFill/>
          </a:ln>
        </p:spPr>
      </p:pic>
      <p:pic>
        <p:nvPicPr>
          <p:cNvPr descr="image.png" id="197" name="Google Shape;197;p20"/>
          <p:cNvPicPr preferRelativeResize="0"/>
          <p:nvPr/>
        </p:nvPicPr>
        <p:blipFill rotWithShape="1">
          <a:blip r:embed="rId4">
            <a:alphaModFix/>
          </a:blip>
          <a:srcRect b="0" l="0" r="0" t="0"/>
          <a:stretch/>
        </p:blipFill>
        <p:spPr>
          <a:xfrm>
            <a:off x="619125" y="1847850"/>
            <a:ext cx="1466850" cy="200025"/>
          </a:xfrm>
          <a:prstGeom prst="rect">
            <a:avLst/>
          </a:prstGeom>
          <a:noFill/>
          <a:ln>
            <a:noFill/>
          </a:ln>
        </p:spPr>
      </p:pic>
      <p:sp>
        <p:nvSpPr>
          <p:cNvPr id="198" name="Google Shape;198;p20"/>
          <p:cNvSpPr txBox="1"/>
          <p:nvPr/>
        </p:nvSpPr>
        <p:spPr>
          <a:xfrm>
            <a:off x="609600" y="457200"/>
            <a:ext cx="11582400" cy="1714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050" u="none" cap="none" strike="noStrike">
                <a:solidFill>
                  <a:srgbClr val="0284C7"/>
                </a:solidFill>
                <a:latin typeface="Plus Jakarta Sans"/>
                <a:ea typeface="Plus Jakarta Sans"/>
                <a:cs typeface="Plus Jakarta Sans"/>
                <a:sym typeface="Plus Jakarta Sans"/>
              </a:rPr>
              <a:t>VISUALIZAÇÃO DO MODELO</a:t>
            </a:r>
            <a:endParaRPr/>
          </a:p>
        </p:txBody>
      </p:sp>
      <p:sp>
        <p:nvSpPr>
          <p:cNvPr id="199" name="Google Shape;199;p20"/>
          <p:cNvSpPr txBox="1"/>
          <p:nvPr/>
        </p:nvSpPr>
        <p:spPr>
          <a:xfrm>
            <a:off x="609600" y="704850"/>
            <a:ext cx="11582400" cy="3810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400" u="none" cap="none" strike="noStrike">
                <a:solidFill>
                  <a:srgbClr val="0F172A"/>
                </a:solidFill>
                <a:latin typeface="Plus Jakarta Sans"/>
                <a:ea typeface="Plus Jakarta Sans"/>
                <a:cs typeface="Plus Jakarta Sans"/>
                <a:sym typeface="Plus Jakarta Sans"/>
              </a:rPr>
              <a:t>Estrutura da Árvore de Decisão</a:t>
            </a:r>
            <a:endParaRPr/>
          </a:p>
        </p:txBody>
      </p:sp>
      <p:sp>
        <p:nvSpPr>
          <p:cNvPr id="200" name="Google Shape;200;p20"/>
          <p:cNvSpPr txBox="1"/>
          <p:nvPr/>
        </p:nvSpPr>
        <p:spPr>
          <a:xfrm>
            <a:off x="7931199" y="3186112"/>
            <a:ext cx="4260800" cy="2190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50" u="none" cap="none" strike="noStrike">
                <a:solidFill>
                  <a:srgbClr val="0F172A"/>
                </a:solidFill>
                <a:latin typeface="Plus Jakarta Sans"/>
                <a:ea typeface="Plus Jakarta Sans"/>
                <a:cs typeface="Plus Jakarta Sans"/>
                <a:sym typeface="Plus Jakarta Sans"/>
              </a:rPr>
              <a:t>Destaques do Nó Raiz</a:t>
            </a:r>
            <a:endParaRPr/>
          </a:p>
        </p:txBody>
      </p:sp>
      <p:sp>
        <p:nvSpPr>
          <p:cNvPr id="201" name="Google Shape;201;p20"/>
          <p:cNvSpPr txBox="1"/>
          <p:nvPr/>
        </p:nvSpPr>
        <p:spPr>
          <a:xfrm>
            <a:off x="7931199" y="3519487"/>
            <a:ext cx="3517850" cy="5143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050" u="none" cap="none" strike="noStrike">
                <a:solidFill>
                  <a:srgbClr val="475569"/>
                </a:solidFill>
                <a:latin typeface="Plus Jakarta Sans"/>
                <a:ea typeface="Plus Jakarta Sans"/>
                <a:cs typeface="Plus Jakarta Sans"/>
                <a:sym typeface="Plus Jakarta Sans"/>
              </a:rPr>
              <a:t>rating_diff:</a:t>
            </a:r>
            <a:r>
              <a:rPr b="0" i="0" lang="en-US" sz="1050" u="none" cap="none" strike="noStrike">
                <a:solidFill>
                  <a:srgbClr val="475569"/>
                </a:solidFill>
                <a:latin typeface="Plus Jakarta Sans"/>
                <a:ea typeface="Plus Jakarta Sans"/>
                <a:cs typeface="Plus Jakarta Sans"/>
                <a:sym typeface="Plus Jakarta Sans"/>
              </a:rPr>
              <a:t> A primeira divisão da árvore utiliza a diferença de pontuação como variável divisora mais importante.</a:t>
            </a:r>
            <a:endParaRPr/>
          </a:p>
        </p:txBody>
      </p:sp>
      <p:sp>
        <p:nvSpPr>
          <p:cNvPr id="202" name="Google Shape;202;p20"/>
          <p:cNvSpPr txBox="1"/>
          <p:nvPr/>
        </p:nvSpPr>
        <p:spPr>
          <a:xfrm>
            <a:off x="7931199" y="4148137"/>
            <a:ext cx="3517850" cy="342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050" u="none" cap="none" strike="noStrike">
                <a:solidFill>
                  <a:srgbClr val="475569"/>
                </a:solidFill>
                <a:latin typeface="Plus Jakarta Sans"/>
                <a:ea typeface="Plus Jakarta Sans"/>
                <a:cs typeface="Plus Jakarta Sans"/>
                <a:sym typeface="Plus Jakarta Sans"/>
              </a:rPr>
              <a:t>A profundidade limitada previne o overfitting e simplifica as regras de decisão.</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6" name="Shape 206"/>
        <p:cNvGrpSpPr/>
        <p:nvPr/>
      </p:nvGrpSpPr>
      <p:grpSpPr>
        <a:xfrm>
          <a:off x="0" y="0"/>
          <a:ext cx="0" cy="0"/>
          <a:chOff x="0" y="0"/>
          <a:chExt cx="0" cy="0"/>
        </a:xfrm>
      </p:grpSpPr>
      <p:pic>
        <p:nvPicPr>
          <p:cNvPr descr="image.png" id="207" name="Google Shape;207;p21"/>
          <p:cNvPicPr preferRelativeResize="0"/>
          <p:nvPr/>
        </p:nvPicPr>
        <p:blipFill rotWithShape="1">
          <a:blip r:embed="rId3">
            <a:alphaModFix/>
          </a:blip>
          <a:srcRect b="0" l="0" r="0" t="0"/>
          <a:stretch/>
        </p:blipFill>
        <p:spPr>
          <a:xfrm>
            <a:off x="609600" y="1743075"/>
            <a:ext cx="10972800" cy="4191000"/>
          </a:xfrm>
          <a:prstGeom prst="rect">
            <a:avLst/>
          </a:prstGeom>
          <a:noFill/>
          <a:ln>
            <a:noFill/>
          </a:ln>
        </p:spPr>
      </p:pic>
      <p:pic>
        <p:nvPicPr>
          <p:cNvPr descr="image.png" id="208" name="Google Shape;208;p21"/>
          <p:cNvPicPr preferRelativeResize="0"/>
          <p:nvPr/>
        </p:nvPicPr>
        <p:blipFill rotWithShape="1">
          <a:blip r:embed="rId4">
            <a:alphaModFix/>
          </a:blip>
          <a:srcRect b="0" l="0" r="0" t="0"/>
          <a:stretch/>
        </p:blipFill>
        <p:spPr>
          <a:xfrm>
            <a:off x="619125" y="1752600"/>
            <a:ext cx="3848100" cy="200025"/>
          </a:xfrm>
          <a:prstGeom prst="rect">
            <a:avLst/>
          </a:prstGeom>
          <a:noFill/>
          <a:ln>
            <a:noFill/>
          </a:ln>
        </p:spPr>
      </p:pic>
      <p:sp>
        <p:nvSpPr>
          <p:cNvPr id="209" name="Google Shape;209;p21"/>
          <p:cNvSpPr txBox="1"/>
          <p:nvPr/>
        </p:nvSpPr>
        <p:spPr>
          <a:xfrm>
            <a:off x="609600" y="457200"/>
            <a:ext cx="11582400" cy="1714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050" u="none" cap="none" strike="noStrike">
                <a:solidFill>
                  <a:srgbClr val="0284C7"/>
                </a:solidFill>
                <a:latin typeface="Plus Jakarta Sans"/>
                <a:ea typeface="Plus Jakarta Sans"/>
                <a:cs typeface="Plus Jakarta Sans"/>
                <a:sym typeface="Plus Jakarta Sans"/>
              </a:rPr>
              <a:t>INTERPRETAÇÃO DOS ATRIBUTOS</a:t>
            </a:r>
            <a:endParaRPr/>
          </a:p>
        </p:txBody>
      </p:sp>
      <p:sp>
        <p:nvSpPr>
          <p:cNvPr id="210" name="Google Shape;210;p21"/>
          <p:cNvSpPr txBox="1"/>
          <p:nvPr/>
        </p:nvSpPr>
        <p:spPr>
          <a:xfrm>
            <a:off x="609600" y="704850"/>
            <a:ext cx="11582400" cy="3810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400" u="none" cap="none" strike="noStrike">
                <a:solidFill>
                  <a:srgbClr val="0F172A"/>
                </a:solidFill>
                <a:latin typeface="Plus Jakarta Sans"/>
                <a:ea typeface="Plus Jakarta Sans"/>
                <a:cs typeface="Plus Jakarta Sans"/>
                <a:sym typeface="Plus Jakarta Sans"/>
              </a:rPr>
              <a:t>Coeficientes e Distribuições</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14" name="Shape 214"/>
        <p:cNvGrpSpPr/>
        <p:nvPr/>
      </p:nvGrpSpPr>
      <p:grpSpPr>
        <a:xfrm>
          <a:off x="0" y="0"/>
          <a:ext cx="0" cy="0"/>
          <a:chOff x="0" y="0"/>
          <a:chExt cx="0" cy="0"/>
        </a:xfrm>
      </p:grpSpPr>
      <p:sp>
        <p:nvSpPr>
          <p:cNvPr id="215" name="Google Shape;215;p22"/>
          <p:cNvSpPr/>
          <p:nvPr/>
        </p:nvSpPr>
        <p:spPr>
          <a:xfrm>
            <a:off x="609600" y="2886075"/>
            <a:ext cx="10972800" cy="1981200"/>
          </a:xfrm>
          <a:prstGeom prst="roundRect">
            <a:avLst>
              <a:gd fmla="val 0" name="adj"/>
            </a:avLst>
          </a:prstGeom>
          <a:solidFill>
            <a:srgbClr val="FFFFFF"/>
          </a:solidFill>
          <a:ln cap="flat" cmpd="sng" w="9525">
            <a:solidFill>
              <a:srgbClr val="4A7DBA"/>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aphicFrame>
        <p:nvGraphicFramePr>
          <p:cNvPr id="216" name="Google Shape;216;p22"/>
          <p:cNvGraphicFramePr/>
          <p:nvPr/>
        </p:nvGraphicFramePr>
        <p:xfrm>
          <a:off x="609600" y="2886075"/>
          <a:ext cx="3000000" cy="3000000"/>
        </p:xfrm>
        <a:graphic>
          <a:graphicData uri="http://schemas.openxmlformats.org/drawingml/2006/table">
            <a:tbl>
              <a:tblPr>
                <a:noFill/>
                <a:tableStyleId>{4EE9D834-7440-4799-A526-2D4600DCD2BF}</a:tableStyleId>
              </a:tblPr>
              <a:tblGrid>
                <a:gridCol w="3719225"/>
                <a:gridCol w="2054725"/>
                <a:gridCol w="2034175"/>
                <a:gridCol w="1643800"/>
                <a:gridCol w="1520875"/>
              </a:tblGrid>
              <a:tr h="495300">
                <a:tc>
                  <a:txBody>
                    <a:bodyPr/>
                    <a:lstStyle/>
                    <a:p>
                      <a:pPr indent="0" lvl="0" marL="0" marR="0" rtl="0" algn="l">
                        <a:spcBef>
                          <a:spcPts val="0"/>
                        </a:spcBef>
                        <a:spcAft>
                          <a:spcPts val="0"/>
                        </a:spcAft>
                        <a:buNone/>
                      </a:pPr>
                      <a:r>
                        <a:rPr b="1" i="0" lang="en-US" sz="1200" u="none" cap="none" strike="noStrike">
                          <a:solidFill>
                            <a:srgbClr val="FFFFFF"/>
                          </a:solidFill>
                          <a:latin typeface="Plus Jakarta Sans"/>
                          <a:ea typeface="Plus Jakarta Sans"/>
                          <a:cs typeface="Plus Jakarta Sans"/>
                          <a:sym typeface="Plus Jakarta Sans"/>
                        </a:rPr>
                        <a:t>Modelo</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0F172A"/>
                    </a:solidFill>
                  </a:tcPr>
                </a:tc>
                <a:tc>
                  <a:txBody>
                    <a:bodyPr/>
                    <a:lstStyle/>
                    <a:p>
                      <a:pPr indent="0" lvl="0" marL="0" marR="0" rtl="0" algn="l">
                        <a:spcBef>
                          <a:spcPts val="0"/>
                        </a:spcBef>
                        <a:spcAft>
                          <a:spcPts val="0"/>
                        </a:spcAft>
                        <a:buNone/>
                      </a:pPr>
                      <a:r>
                        <a:rPr b="1" i="0" lang="en-US" sz="1200" u="none" cap="none" strike="noStrike">
                          <a:solidFill>
                            <a:srgbClr val="FFFFFF"/>
                          </a:solidFill>
                          <a:latin typeface="Plus Jakarta Sans"/>
                          <a:ea typeface="Plus Jakarta Sans"/>
                          <a:cs typeface="Plus Jakarta Sans"/>
                          <a:sym typeface="Plus Jakarta Sans"/>
                        </a:rPr>
                        <a:t>Acurácia</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0F172A"/>
                    </a:solidFill>
                  </a:tcPr>
                </a:tc>
                <a:tc>
                  <a:txBody>
                    <a:bodyPr/>
                    <a:lstStyle/>
                    <a:p>
                      <a:pPr indent="0" lvl="0" marL="0" marR="0" rtl="0" algn="l">
                        <a:spcBef>
                          <a:spcPts val="0"/>
                        </a:spcBef>
                        <a:spcAft>
                          <a:spcPts val="0"/>
                        </a:spcAft>
                        <a:buNone/>
                      </a:pPr>
                      <a:r>
                        <a:rPr b="1" i="0" lang="en-US" sz="1200" u="none" cap="none" strike="noStrike">
                          <a:solidFill>
                            <a:srgbClr val="FFFFFF"/>
                          </a:solidFill>
                          <a:latin typeface="Plus Jakarta Sans"/>
                          <a:ea typeface="Plus Jakarta Sans"/>
                          <a:cs typeface="Plus Jakarta Sans"/>
                          <a:sym typeface="Plus Jakarta Sans"/>
                        </a:rPr>
                        <a:t>Precisão</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0F172A"/>
                    </a:solidFill>
                  </a:tcPr>
                </a:tc>
                <a:tc>
                  <a:txBody>
                    <a:bodyPr/>
                    <a:lstStyle/>
                    <a:p>
                      <a:pPr indent="0" lvl="0" marL="0" marR="0" rtl="0" algn="l">
                        <a:spcBef>
                          <a:spcPts val="0"/>
                        </a:spcBef>
                        <a:spcAft>
                          <a:spcPts val="0"/>
                        </a:spcAft>
                        <a:buNone/>
                      </a:pPr>
                      <a:r>
                        <a:rPr b="1" i="0" lang="en-US" sz="1200" u="none" cap="none" strike="noStrike">
                          <a:solidFill>
                            <a:srgbClr val="FFFFFF"/>
                          </a:solidFill>
                          <a:latin typeface="Plus Jakarta Sans"/>
                          <a:ea typeface="Plus Jakarta Sans"/>
                          <a:cs typeface="Plus Jakarta Sans"/>
                          <a:sym typeface="Plus Jakarta Sans"/>
                        </a:rPr>
                        <a:t>Recall</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0F172A"/>
                    </a:solidFill>
                  </a:tcPr>
                </a:tc>
                <a:tc>
                  <a:txBody>
                    <a:bodyPr/>
                    <a:lstStyle/>
                    <a:p>
                      <a:pPr indent="0" lvl="0" marL="0" marR="0" rtl="0" algn="l">
                        <a:spcBef>
                          <a:spcPts val="0"/>
                        </a:spcBef>
                        <a:spcAft>
                          <a:spcPts val="0"/>
                        </a:spcAft>
                        <a:buNone/>
                      </a:pPr>
                      <a:r>
                        <a:rPr b="1" i="0" lang="en-US" sz="1200" u="none" cap="none" strike="noStrike">
                          <a:solidFill>
                            <a:srgbClr val="FFFFFF"/>
                          </a:solidFill>
                          <a:latin typeface="Plus Jakarta Sans"/>
                          <a:ea typeface="Plus Jakarta Sans"/>
                          <a:cs typeface="Plus Jakarta Sans"/>
                          <a:sym typeface="Plus Jakarta Sans"/>
                        </a:rPr>
                        <a:t>AUC</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0F172A"/>
                    </a:solidFill>
                  </a:tcPr>
                </a:tc>
              </a:tr>
              <a:tr h="495300">
                <a:tc>
                  <a:txBody>
                    <a:bodyPr/>
                    <a:lstStyle/>
                    <a:p>
                      <a:pPr indent="0" lvl="0" marL="0" marR="0" rtl="0" algn="l">
                        <a:spcBef>
                          <a:spcPts val="0"/>
                        </a:spcBef>
                        <a:spcAft>
                          <a:spcPts val="0"/>
                        </a:spcAft>
                        <a:buNone/>
                      </a:pPr>
                      <a:r>
                        <a:rPr b="1" i="0" lang="en-US" sz="1125" u="none" cap="none" strike="noStrike">
                          <a:solidFill>
                            <a:srgbClr val="334155"/>
                          </a:solidFill>
                          <a:latin typeface="Plus Jakarta Sans"/>
                          <a:ea typeface="Plus Jakarta Sans"/>
                          <a:cs typeface="Plus Jakarta Sans"/>
                          <a:sym typeface="Plus Jakarta Sans"/>
                        </a:rPr>
                        <a:t>Árvore de Decisão</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b="0" i="0" lang="en-US" sz="1125" u="none" cap="none" strike="noStrike">
                          <a:solidFill>
                            <a:srgbClr val="334155"/>
                          </a:solidFill>
                          <a:latin typeface="Plus Jakarta Sans"/>
                          <a:ea typeface="Plus Jakarta Sans"/>
                          <a:cs typeface="Plus Jakarta Sans"/>
                          <a:sym typeface="Plus Jakarta Sans"/>
                        </a:rPr>
                        <a:t>64.8%</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b="0" i="0" lang="en-US" sz="1125" u="none" cap="none" strike="noStrike">
                          <a:solidFill>
                            <a:srgbClr val="334155"/>
                          </a:solidFill>
                          <a:latin typeface="Plus Jakarta Sans"/>
                          <a:ea typeface="Plus Jakarta Sans"/>
                          <a:cs typeface="Plus Jakarta Sans"/>
                          <a:sym typeface="Plus Jakarta Sans"/>
                        </a:rPr>
                        <a:t>65.1%</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b="0" i="0" lang="en-US" sz="1125" u="none" cap="none" strike="noStrike">
                          <a:solidFill>
                            <a:srgbClr val="334155"/>
                          </a:solidFill>
                          <a:latin typeface="Plus Jakarta Sans"/>
                          <a:ea typeface="Plus Jakarta Sans"/>
                          <a:cs typeface="Plus Jakarta Sans"/>
                          <a:sym typeface="Plus Jakarta Sans"/>
                        </a:rPr>
                        <a:t>66.2%</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b="0" i="0" lang="en-US" sz="1125" u="none" cap="none" strike="noStrike">
                          <a:solidFill>
                            <a:srgbClr val="334155"/>
                          </a:solidFill>
                          <a:latin typeface="Plus Jakarta Sans"/>
                          <a:ea typeface="Plus Jakarta Sans"/>
                          <a:cs typeface="Plus Jakarta Sans"/>
                          <a:sym typeface="Plus Jakarta Sans"/>
                        </a:rPr>
                        <a:t>0.695</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r>
              <a:tr h="495300">
                <a:tc>
                  <a:txBody>
                    <a:bodyPr/>
                    <a:lstStyle/>
                    <a:p>
                      <a:pPr indent="0" lvl="0" marL="0" marR="0" rtl="0" algn="l">
                        <a:spcBef>
                          <a:spcPts val="0"/>
                        </a:spcBef>
                        <a:spcAft>
                          <a:spcPts val="0"/>
                        </a:spcAft>
                        <a:buNone/>
                      </a:pPr>
                      <a:r>
                        <a:rPr b="1" i="0" lang="en-US" sz="1125" u="none" cap="none" strike="noStrike">
                          <a:solidFill>
                            <a:srgbClr val="334155"/>
                          </a:solidFill>
                          <a:latin typeface="Plus Jakarta Sans"/>
                          <a:ea typeface="Plus Jakarta Sans"/>
                          <a:cs typeface="Plus Jakarta Sans"/>
                          <a:sym typeface="Plus Jakarta Sans"/>
                        </a:rPr>
                        <a:t>Naive Bayes</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c>
                  <a:txBody>
                    <a:bodyPr/>
                    <a:lstStyle/>
                    <a:p>
                      <a:pPr indent="0" lvl="0" marL="0" marR="0" rtl="0" algn="l">
                        <a:spcBef>
                          <a:spcPts val="0"/>
                        </a:spcBef>
                        <a:spcAft>
                          <a:spcPts val="0"/>
                        </a:spcAft>
                        <a:buNone/>
                      </a:pPr>
                      <a:r>
                        <a:rPr b="0" i="0" lang="en-US" sz="1125" u="none" cap="none" strike="noStrike">
                          <a:solidFill>
                            <a:srgbClr val="334155"/>
                          </a:solidFill>
                          <a:latin typeface="Plus Jakarta Sans"/>
                          <a:ea typeface="Plus Jakarta Sans"/>
                          <a:cs typeface="Plus Jakarta Sans"/>
                          <a:sym typeface="Plus Jakarta Sans"/>
                        </a:rPr>
                        <a:t>62.1%</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c>
                  <a:txBody>
                    <a:bodyPr/>
                    <a:lstStyle/>
                    <a:p>
                      <a:pPr indent="0" lvl="0" marL="0" marR="0" rtl="0" algn="l">
                        <a:spcBef>
                          <a:spcPts val="0"/>
                        </a:spcBef>
                        <a:spcAft>
                          <a:spcPts val="0"/>
                        </a:spcAft>
                        <a:buNone/>
                      </a:pPr>
                      <a:r>
                        <a:rPr b="0" i="0" lang="en-US" sz="1125" u="none" cap="none" strike="noStrike">
                          <a:solidFill>
                            <a:srgbClr val="334155"/>
                          </a:solidFill>
                          <a:latin typeface="Plus Jakarta Sans"/>
                          <a:ea typeface="Plus Jakarta Sans"/>
                          <a:cs typeface="Plus Jakarta Sans"/>
                          <a:sym typeface="Plus Jakarta Sans"/>
                        </a:rPr>
                        <a:t>62.4%</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c>
                  <a:txBody>
                    <a:bodyPr/>
                    <a:lstStyle/>
                    <a:p>
                      <a:pPr indent="0" lvl="0" marL="0" marR="0" rtl="0" algn="l">
                        <a:spcBef>
                          <a:spcPts val="0"/>
                        </a:spcBef>
                        <a:spcAft>
                          <a:spcPts val="0"/>
                        </a:spcAft>
                        <a:buNone/>
                      </a:pPr>
                      <a:r>
                        <a:rPr b="0" i="0" lang="en-US" sz="1125" u="none" cap="none" strike="noStrike">
                          <a:solidFill>
                            <a:srgbClr val="334155"/>
                          </a:solidFill>
                          <a:latin typeface="Plus Jakarta Sans"/>
                          <a:ea typeface="Plus Jakarta Sans"/>
                          <a:cs typeface="Plus Jakarta Sans"/>
                          <a:sym typeface="Plus Jakarta Sans"/>
                        </a:rPr>
                        <a:t>63.8%</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c>
                  <a:txBody>
                    <a:bodyPr/>
                    <a:lstStyle/>
                    <a:p>
                      <a:pPr indent="0" lvl="0" marL="0" marR="0" rtl="0" algn="l">
                        <a:spcBef>
                          <a:spcPts val="0"/>
                        </a:spcBef>
                        <a:spcAft>
                          <a:spcPts val="0"/>
                        </a:spcAft>
                        <a:buNone/>
                      </a:pPr>
                      <a:r>
                        <a:rPr b="0" i="0" lang="en-US" sz="1125" u="none" cap="none" strike="noStrike">
                          <a:solidFill>
                            <a:srgbClr val="334155"/>
                          </a:solidFill>
                          <a:latin typeface="Plus Jakarta Sans"/>
                          <a:ea typeface="Plus Jakarta Sans"/>
                          <a:cs typeface="Plus Jakarta Sans"/>
                          <a:sym typeface="Plus Jakarta Sans"/>
                        </a:rPr>
                        <a:t>0.672</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r>
              <a:tr h="495300">
                <a:tc>
                  <a:txBody>
                    <a:bodyPr/>
                    <a:lstStyle/>
                    <a:p>
                      <a:pPr indent="0" lvl="0" marL="0" marR="0" rtl="0" algn="l">
                        <a:spcBef>
                          <a:spcPts val="0"/>
                        </a:spcBef>
                        <a:spcAft>
                          <a:spcPts val="0"/>
                        </a:spcAft>
                        <a:buNone/>
                      </a:pPr>
                      <a:r>
                        <a:rPr b="1" i="0" lang="en-US" sz="1125" u="none" cap="none" strike="noStrike">
                          <a:solidFill>
                            <a:srgbClr val="15803D"/>
                          </a:solidFill>
                          <a:latin typeface="Plus Jakarta Sans"/>
                          <a:ea typeface="Plus Jakarta Sans"/>
                          <a:cs typeface="Plus Jakarta Sans"/>
                          <a:sym typeface="Plus Jakarta Sans"/>
                        </a:rPr>
                        <a:t>Regressão Logística</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0FDF4"/>
                    </a:solidFill>
                  </a:tcPr>
                </a:tc>
                <a:tc>
                  <a:txBody>
                    <a:bodyPr/>
                    <a:lstStyle/>
                    <a:p>
                      <a:pPr indent="0" lvl="0" marL="0" marR="0" rtl="0" algn="l">
                        <a:spcBef>
                          <a:spcPts val="0"/>
                        </a:spcBef>
                        <a:spcAft>
                          <a:spcPts val="0"/>
                        </a:spcAft>
                        <a:buNone/>
                      </a:pPr>
                      <a:r>
                        <a:rPr b="1" i="0" lang="en-US" sz="1125" u="none" cap="none" strike="noStrike">
                          <a:solidFill>
                            <a:srgbClr val="15803D"/>
                          </a:solidFill>
                          <a:latin typeface="Plus Jakarta Sans"/>
                          <a:ea typeface="Plus Jakarta Sans"/>
                          <a:cs typeface="Plus Jakarta Sans"/>
                          <a:sym typeface="Plus Jakarta Sans"/>
                        </a:rPr>
                        <a:t>66.3%</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0FDF4"/>
                    </a:solidFill>
                  </a:tcPr>
                </a:tc>
                <a:tc>
                  <a:txBody>
                    <a:bodyPr/>
                    <a:lstStyle/>
                    <a:p>
                      <a:pPr indent="0" lvl="0" marL="0" marR="0" rtl="0" algn="l">
                        <a:spcBef>
                          <a:spcPts val="0"/>
                        </a:spcBef>
                        <a:spcAft>
                          <a:spcPts val="0"/>
                        </a:spcAft>
                        <a:buNone/>
                      </a:pPr>
                      <a:r>
                        <a:rPr b="1" i="0" lang="en-US" sz="1125" u="none" cap="none" strike="noStrike">
                          <a:solidFill>
                            <a:srgbClr val="15803D"/>
                          </a:solidFill>
                          <a:latin typeface="Plus Jakarta Sans"/>
                          <a:ea typeface="Plus Jakarta Sans"/>
                          <a:cs typeface="Plus Jakarta Sans"/>
                          <a:sym typeface="Plus Jakarta Sans"/>
                        </a:rPr>
                        <a:t>66.5%</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0FDF4"/>
                    </a:solidFill>
                  </a:tcPr>
                </a:tc>
                <a:tc>
                  <a:txBody>
                    <a:bodyPr/>
                    <a:lstStyle/>
                    <a:p>
                      <a:pPr indent="0" lvl="0" marL="0" marR="0" rtl="0" algn="l">
                        <a:spcBef>
                          <a:spcPts val="0"/>
                        </a:spcBef>
                        <a:spcAft>
                          <a:spcPts val="0"/>
                        </a:spcAft>
                        <a:buNone/>
                      </a:pPr>
                      <a:r>
                        <a:rPr b="1" i="0" lang="en-US" sz="1125" u="none" cap="none" strike="noStrike">
                          <a:solidFill>
                            <a:srgbClr val="15803D"/>
                          </a:solidFill>
                          <a:latin typeface="Plus Jakarta Sans"/>
                          <a:ea typeface="Plus Jakarta Sans"/>
                          <a:cs typeface="Plus Jakarta Sans"/>
                          <a:sym typeface="Plus Jakarta Sans"/>
                        </a:rPr>
                        <a:t>67.4%</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0FDF4"/>
                    </a:solidFill>
                  </a:tcPr>
                </a:tc>
                <a:tc>
                  <a:txBody>
                    <a:bodyPr/>
                    <a:lstStyle/>
                    <a:p>
                      <a:pPr indent="0" lvl="0" marL="0" marR="0" rtl="0" algn="l">
                        <a:spcBef>
                          <a:spcPts val="0"/>
                        </a:spcBef>
                        <a:spcAft>
                          <a:spcPts val="0"/>
                        </a:spcAft>
                        <a:buNone/>
                      </a:pPr>
                      <a:r>
                        <a:rPr b="1" i="0" lang="en-US" sz="1125" u="none" cap="none" strike="noStrike">
                          <a:solidFill>
                            <a:srgbClr val="15803D"/>
                          </a:solidFill>
                          <a:latin typeface="Plus Jakarta Sans"/>
                          <a:ea typeface="Plus Jakarta Sans"/>
                          <a:cs typeface="Plus Jakarta Sans"/>
                          <a:sym typeface="Plus Jakarta Sans"/>
                        </a:rPr>
                        <a:t>0.721</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0FDF4"/>
                    </a:solidFill>
                  </a:tcPr>
                </a:tc>
              </a:tr>
            </a:tbl>
          </a:graphicData>
        </a:graphic>
      </p:graphicFrame>
      <p:sp>
        <p:nvSpPr>
          <p:cNvPr id="217" name="Google Shape;217;p22"/>
          <p:cNvSpPr txBox="1"/>
          <p:nvPr/>
        </p:nvSpPr>
        <p:spPr>
          <a:xfrm>
            <a:off x="609600" y="457200"/>
            <a:ext cx="11582400" cy="1714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050" u="none" cap="none" strike="noStrike">
                <a:solidFill>
                  <a:srgbClr val="0284C7"/>
                </a:solidFill>
                <a:latin typeface="Plus Jakarta Sans"/>
                <a:ea typeface="Plus Jakarta Sans"/>
                <a:cs typeface="Plus Jakarta Sans"/>
                <a:sym typeface="Plus Jakarta Sans"/>
              </a:rPr>
              <a:t>RESULTADOS OBTIDOS</a:t>
            </a:r>
            <a:endParaRPr/>
          </a:p>
        </p:txBody>
      </p:sp>
      <p:sp>
        <p:nvSpPr>
          <p:cNvPr id="218" name="Google Shape;218;p22"/>
          <p:cNvSpPr txBox="1"/>
          <p:nvPr/>
        </p:nvSpPr>
        <p:spPr>
          <a:xfrm>
            <a:off x="609600" y="704850"/>
            <a:ext cx="11582400" cy="3810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400" u="none" cap="none" strike="noStrike">
                <a:solidFill>
                  <a:srgbClr val="0F172A"/>
                </a:solidFill>
                <a:latin typeface="Plus Jakarta Sans"/>
                <a:ea typeface="Plus Jakarta Sans"/>
                <a:cs typeface="Plus Jakarta Sans"/>
                <a:sym typeface="Plus Jakarta Sans"/>
              </a:rPr>
              <a:t>Comparação de Métricas dos Modelos</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22" name="Shape 222"/>
        <p:cNvGrpSpPr/>
        <p:nvPr/>
      </p:nvGrpSpPr>
      <p:grpSpPr>
        <a:xfrm>
          <a:off x="0" y="0"/>
          <a:ext cx="0" cy="0"/>
          <a:chOff x="0" y="0"/>
          <a:chExt cx="0" cy="0"/>
        </a:xfrm>
      </p:grpSpPr>
      <p:sp>
        <p:nvSpPr>
          <p:cNvPr id="223" name="Google Shape;223;p23"/>
          <p:cNvSpPr/>
          <p:nvPr/>
        </p:nvSpPr>
        <p:spPr>
          <a:xfrm>
            <a:off x="6448425" y="3328987"/>
            <a:ext cx="146298" cy="152400"/>
          </a:xfrm>
          <a:prstGeom prst="roundRect">
            <a:avLst>
              <a:gd fmla="val 26042" name="adj"/>
            </a:avLst>
          </a:prstGeom>
          <a:solidFill>
            <a:srgbClr val="16A34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24" name="Google Shape;224;p23"/>
          <p:cNvSpPr/>
          <p:nvPr/>
        </p:nvSpPr>
        <p:spPr>
          <a:xfrm>
            <a:off x="6448425" y="3781425"/>
            <a:ext cx="152400" cy="152400"/>
          </a:xfrm>
          <a:prstGeom prst="roundRect">
            <a:avLst>
              <a:gd fmla="val 25000" name="adj"/>
            </a:avLst>
          </a:prstGeom>
          <a:solidFill>
            <a:srgbClr val="0284C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25" name="Google Shape;225;p23"/>
          <p:cNvSpPr/>
          <p:nvPr/>
        </p:nvSpPr>
        <p:spPr>
          <a:xfrm>
            <a:off x="6448425" y="4233862"/>
            <a:ext cx="138707" cy="152400"/>
          </a:xfrm>
          <a:prstGeom prst="roundRect">
            <a:avLst>
              <a:gd fmla="val 27467" name="adj"/>
            </a:avLst>
          </a:prstGeom>
          <a:solidFill>
            <a:srgbClr val="EAB30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image.png" id="226" name="Google Shape;226;p23"/>
          <p:cNvPicPr preferRelativeResize="0"/>
          <p:nvPr/>
        </p:nvPicPr>
        <p:blipFill rotWithShape="1">
          <a:blip r:embed="rId3">
            <a:alphaModFix/>
          </a:blip>
          <a:srcRect b="0" l="0" r="0" t="0"/>
          <a:stretch/>
        </p:blipFill>
        <p:spPr>
          <a:xfrm>
            <a:off x="609600" y="2047875"/>
            <a:ext cx="5534025" cy="3619500"/>
          </a:xfrm>
          <a:prstGeom prst="rect">
            <a:avLst/>
          </a:prstGeom>
          <a:noFill/>
          <a:ln>
            <a:noFill/>
          </a:ln>
        </p:spPr>
      </p:pic>
      <p:pic>
        <p:nvPicPr>
          <p:cNvPr descr="image.png" id="227" name="Google Shape;227;p23"/>
          <p:cNvPicPr preferRelativeResize="0"/>
          <p:nvPr/>
        </p:nvPicPr>
        <p:blipFill rotWithShape="1">
          <a:blip r:embed="rId4">
            <a:alphaModFix/>
          </a:blip>
          <a:srcRect b="0" l="0" r="0" t="0"/>
          <a:stretch/>
        </p:blipFill>
        <p:spPr>
          <a:xfrm>
            <a:off x="809625" y="2247900"/>
            <a:ext cx="5133975" cy="3219450"/>
          </a:xfrm>
          <a:prstGeom prst="rect">
            <a:avLst/>
          </a:prstGeom>
          <a:noFill/>
          <a:ln>
            <a:noFill/>
          </a:ln>
        </p:spPr>
      </p:pic>
      <p:sp>
        <p:nvSpPr>
          <p:cNvPr id="228" name="Google Shape;228;p23"/>
          <p:cNvSpPr txBox="1"/>
          <p:nvPr/>
        </p:nvSpPr>
        <p:spPr>
          <a:xfrm>
            <a:off x="609600" y="457200"/>
            <a:ext cx="11582400" cy="1714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050" u="none" cap="none" strike="noStrike">
                <a:solidFill>
                  <a:srgbClr val="0284C7"/>
                </a:solidFill>
                <a:latin typeface="Plus Jakarta Sans"/>
                <a:ea typeface="Plus Jakarta Sans"/>
                <a:cs typeface="Plus Jakarta Sans"/>
                <a:sym typeface="Plus Jakarta Sans"/>
              </a:rPr>
              <a:t>DESEMPENHO GRÁFICO</a:t>
            </a:r>
            <a:endParaRPr/>
          </a:p>
        </p:txBody>
      </p:sp>
      <p:sp>
        <p:nvSpPr>
          <p:cNvPr id="229" name="Google Shape;229;p23"/>
          <p:cNvSpPr txBox="1"/>
          <p:nvPr/>
        </p:nvSpPr>
        <p:spPr>
          <a:xfrm>
            <a:off x="609600" y="704850"/>
            <a:ext cx="11582400" cy="3810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400" u="none" cap="none" strike="noStrike">
                <a:solidFill>
                  <a:srgbClr val="0F172A"/>
                </a:solidFill>
                <a:latin typeface="Plus Jakarta Sans"/>
                <a:ea typeface="Plus Jakarta Sans"/>
                <a:cs typeface="Plus Jakarta Sans"/>
                <a:sym typeface="Plus Jakarta Sans"/>
              </a:rPr>
              <a:t>Comparativo da Curva ROC</a:t>
            </a:r>
            <a:endParaRPr/>
          </a:p>
        </p:txBody>
      </p:sp>
      <p:sp>
        <p:nvSpPr>
          <p:cNvPr id="230" name="Google Shape;230;p23"/>
          <p:cNvSpPr txBox="1"/>
          <p:nvPr/>
        </p:nvSpPr>
        <p:spPr>
          <a:xfrm>
            <a:off x="6709023" y="3205162"/>
            <a:ext cx="4968626" cy="4000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200" u="none" cap="none" strike="noStrike">
                <a:solidFill>
                  <a:srgbClr val="0F172A"/>
                </a:solidFill>
                <a:latin typeface="Plus Jakarta Sans"/>
                <a:ea typeface="Plus Jakarta Sans"/>
                <a:cs typeface="Plus Jakarta Sans"/>
                <a:sym typeface="Plus Jakarta Sans"/>
              </a:rPr>
              <a:t>Regressão Logística (AUC = 0.72)</a:t>
            </a:r>
            <a:r>
              <a:rPr b="0" i="0" lang="en-US" sz="1200" u="none" cap="none" strike="noStrike">
                <a:solidFill>
                  <a:srgbClr val="0F172A"/>
                </a:solidFill>
                <a:latin typeface="Plus Jakarta Sans"/>
                <a:ea typeface="Plus Jakarta Sans"/>
                <a:cs typeface="Plus Jakarta Sans"/>
                <a:sym typeface="Plus Jakarta Sans"/>
              </a:rPr>
              <a:t> - Melhor capacidade de separação.</a:t>
            </a:r>
            <a:endParaRPr/>
          </a:p>
        </p:txBody>
      </p:sp>
      <p:sp>
        <p:nvSpPr>
          <p:cNvPr id="231" name="Google Shape;231;p23"/>
          <p:cNvSpPr txBox="1"/>
          <p:nvPr/>
        </p:nvSpPr>
        <p:spPr>
          <a:xfrm>
            <a:off x="6715125" y="3757612"/>
            <a:ext cx="5476875" cy="2000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200" u="none" cap="none" strike="noStrike">
                <a:solidFill>
                  <a:srgbClr val="0F172A"/>
                </a:solidFill>
                <a:latin typeface="Plus Jakarta Sans"/>
                <a:ea typeface="Plus Jakarta Sans"/>
                <a:cs typeface="Plus Jakarta Sans"/>
                <a:sym typeface="Plus Jakarta Sans"/>
              </a:rPr>
              <a:t>Árvore de Decisão (AUC = 0.69)</a:t>
            </a:r>
            <a:r>
              <a:rPr b="0" i="0" lang="en-US" sz="1200" u="none" cap="none" strike="noStrike">
                <a:solidFill>
                  <a:srgbClr val="0F172A"/>
                </a:solidFill>
                <a:latin typeface="Plus Jakarta Sans"/>
                <a:ea typeface="Plus Jakarta Sans"/>
                <a:cs typeface="Plus Jakarta Sans"/>
                <a:sym typeface="Plus Jakarta Sans"/>
              </a:rPr>
              <a:t> - Desempenho intermediário.</a:t>
            </a:r>
            <a:endParaRPr/>
          </a:p>
        </p:txBody>
      </p:sp>
      <p:sp>
        <p:nvSpPr>
          <p:cNvPr id="232" name="Google Shape;232;p23"/>
          <p:cNvSpPr txBox="1"/>
          <p:nvPr/>
        </p:nvSpPr>
        <p:spPr>
          <a:xfrm>
            <a:off x="6701432" y="4110037"/>
            <a:ext cx="4976217" cy="4000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200" u="none" cap="none" strike="noStrike">
                <a:solidFill>
                  <a:srgbClr val="0F172A"/>
                </a:solidFill>
                <a:latin typeface="Plus Jakarta Sans"/>
                <a:ea typeface="Plus Jakarta Sans"/>
                <a:cs typeface="Plus Jakarta Sans"/>
                <a:sym typeface="Plus Jakarta Sans"/>
              </a:rPr>
              <a:t>Naive Bayes (AUC = 0.67)</a:t>
            </a:r>
            <a:r>
              <a:rPr b="0" i="0" lang="en-US" sz="1200" u="none" cap="none" strike="noStrike">
                <a:solidFill>
                  <a:srgbClr val="0F172A"/>
                </a:solidFill>
                <a:latin typeface="Plus Jakarta Sans"/>
                <a:ea typeface="Plus Jakarta Sans"/>
                <a:cs typeface="Plus Jakarta Sans"/>
                <a:sym typeface="Plus Jakarta Sans"/>
              </a:rPr>
              <a:t> - Impactado pela suposição de independência.</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36" name="Shape 236"/>
        <p:cNvGrpSpPr/>
        <p:nvPr/>
      </p:nvGrpSpPr>
      <p:grpSpPr>
        <a:xfrm>
          <a:off x="0" y="0"/>
          <a:ext cx="0" cy="0"/>
          <a:chOff x="0" y="0"/>
          <a:chExt cx="0" cy="0"/>
        </a:xfrm>
      </p:grpSpPr>
      <p:sp>
        <p:nvSpPr>
          <p:cNvPr id="237" name="Google Shape;237;p24"/>
          <p:cNvSpPr/>
          <p:nvPr/>
        </p:nvSpPr>
        <p:spPr>
          <a:xfrm>
            <a:off x="609600" y="3014662"/>
            <a:ext cx="10972800" cy="1762125"/>
          </a:xfrm>
          <a:prstGeom prst="roundRect">
            <a:avLst>
              <a:gd fmla="val 6486" name="adj"/>
            </a:avLst>
          </a:prstGeom>
          <a:solidFill>
            <a:srgbClr val="F8FAFC"/>
          </a:solidFill>
          <a:ln cap="flat" cmpd="sng" w="952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38" name="Google Shape;238;p24"/>
          <p:cNvSpPr/>
          <p:nvPr/>
        </p:nvSpPr>
        <p:spPr>
          <a:xfrm>
            <a:off x="1762125" y="4119562"/>
            <a:ext cx="895350" cy="266700"/>
          </a:xfrm>
          <a:prstGeom prst="roundRect">
            <a:avLst>
              <a:gd fmla="val 21428" name="adj"/>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39" name="Google Shape;239;p24"/>
          <p:cNvSpPr/>
          <p:nvPr/>
        </p:nvSpPr>
        <p:spPr>
          <a:xfrm>
            <a:off x="2771775" y="4119562"/>
            <a:ext cx="1228725" cy="266700"/>
          </a:xfrm>
          <a:prstGeom prst="roundRect">
            <a:avLst>
              <a:gd fmla="val 21428" name="adj"/>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40" name="Google Shape;240;p24"/>
          <p:cNvSpPr/>
          <p:nvPr/>
        </p:nvSpPr>
        <p:spPr>
          <a:xfrm>
            <a:off x="4114800" y="4119562"/>
            <a:ext cx="1724025" cy="266700"/>
          </a:xfrm>
          <a:prstGeom prst="roundRect">
            <a:avLst>
              <a:gd fmla="val 21428" name="adj"/>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image.png" id="241" name="Google Shape;241;p24"/>
          <p:cNvPicPr preferRelativeResize="0"/>
          <p:nvPr/>
        </p:nvPicPr>
        <p:blipFill rotWithShape="1">
          <a:blip r:embed="rId3">
            <a:alphaModFix/>
          </a:blip>
          <a:srcRect b="0" l="0" r="0" t="0"/>
          <a:stretch/>
        </p:blipFill>
        <p:spPr>
          <a:xfrm>
            <a:off x="1000125" y="3590925"/>
            <a:ext cx="457200" cy="609600"/>
          </a:xfrm>
          <a:prstGeom prst="rect">
            <a:avLst/>
          </a:prstGeom>
          <a:noFill/>
          <a:ln>
            <a:noFill/>
          </a:ln>
        </p:spPr>
      </p:pic>
      <p:sp>
        <p:nvSpPr>
          <p:cNvPr id="242" name="Google Shape;242;p24"/>
          <p:cNvSpPr txBox="1"/>
          <p:nvPr/>
        </p:nvSpPr>
        <p:spPr>
          <a:xfrm>
            <a:off x="609600" y="457200"/>
            <a:ext cx="11582400" cy="1714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050" u="none" cap="none" strike="noStrike">
                <a:solidFill>
                  <a:srgbClr val="0284C7"/>
                </a:solidFill>
                <a:latin typeface="Plus Jakarta Sans"/>
                <a:ea typeface="Plus Jakarta Sans"/>
                <a:cs typeface="Plus Jakarta Sans"/>
                <a:sym typeface="Plus Jakarta Sans"/>
              </a:rPr>
              <a:t>ENTREGÁVEL PRÁTICO</a:t>
            </a:r>
            <a:endParaRPr/>
          </a:p>
        </p:txBody>
      </p:sp>
      <p:sp>
        <p:nvSpPr>
          <p:cNvPr id="243" name="Google Shape;243;p24"/>
          <p:cNvSpPr txBox="1"/>
          <p:nvPr/>
        </p:nvSpPr>
        <p:spPr>
          <a:xfrm>
            <a:off x="609600" y="704850"/>
            <a:ext cx="11582400" cy="3810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400" u="none" cap="none" strike="noStrike">
                <a:solidFill>
                  <a:srgbClr val="0F172A"/>
                </a:solidFill>
                <a:latin typeface="Plus Jakarta Sans"/>
                <a:ea typeface="Plus Jakarta Sans"/>
                <a:cs typeface="Plus Jakarta Sans"/>
                <a:sym typeface="Plus Jakarta Sans"/>
              </a:rPr>
              <a:t>Exportação do Arquivo Excel (.xlsx)</a:t>
            </a:r>
            <a:endParaRPr/>
          </a:p>
        </p:txBody>
      </p:sp>
      <p:sp>
        <p:nvSpPr>
          <p:cNvPr id="244" name="Google Shape;244;p24"/>
          <p:cNvSpPr txBox="1"/>
          <p:nvPr/>
        </p:nvSpPr>
        <p:spPr>
          <a:xfrm>
            <a:off x="1762125" y="3405187"/>
            <a:ext cx="9601200"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800" u="none" cap="none" strike="noStrike">
                <a:solidFill>
                  <a:srgbClr val="0F172A"/>
                </a:solidFill>
                <a:latin typeface="Plus Jakarta Sans"/>
                <a:ea typeface="Plus Jakarta Sans"/>
                <a:cs typeface="Plus Jakarta Sans"/>
                <a:sym typeface="Plus Jakarta Sans"/>
              </a:rPr>
              <a:t>matrizes_confusao_xadrez.xlsx</a:t>
            </a:r>
            <a:endParaRPr/>
          </a:p>
        </p:txBody>
      </p:sp>
      <p:sp>
        <p:nvSpPr>
          <p:cNvPr id="245" name="Google Shape;245;p24"/>
          <p:cNvSpPr txBox="1"/>
          <p:nvPr/>
        </p:nvSpPr>
        <p:spPr>
          <a:xfrm>
            <a:off x="1762125" y="3767137"/>
            <a:ext cx="9144000" cy="2000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475569"/>
                </a:solidFill>
                <a:latin typeface="Plus Jakarta Sans"/>
                <a:ea typeface="Plus Jakarta Sans"/>
                <a:cs typeface="Plus Jakarta Sans"/>
                <a:sym typeface="Plus Jakarta Sans"/>
              </a:rPr>
              <a:t>Arquivo gerado via código Python utilizando a biblioteca OpenPyXL com abas separadas por modelo.</a:t>
            </a:r>
            <a:endParaRPr/>
          </a:p>
        </p:txBody>
      </p:sp>
      <p:sp>
        <p:nvSpPr>
          <p:cNvPr id="246" name="Google Shape;246;p24"/>
          <p:cNvSpPr txBox="1"/>
          <p:nvPr/>
        </p:nvSpPr>
        <p:spPr>
          <a:xfrm>
            <a:off x="1876425" y="4176712"/>
            <a:ext cx="762000" cy="152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75" u="none" cap="none" strike="noStrike">
                <a:solidFill>
                  <a:srgbClr val="1E293B"/>
                </a:solidFill>
                <a:latin typeface="Plus Jakarta Sans"/>
                <a:ea typeface="Plus Jakarta Sans"/>
                <a:cs typeface="Plus Jakarta Sans"/>
                <a:sym typeface="Plus Jakarta Sans"/>
              </a:rPr>
              <a:t>Aba Árvore</a:t>
            </a:r>
            <a:endParaRPr/>
          </a:p>
        </p:txBody>
      </p:sp>
      <p:sp>
        <p:nvSpPr>
          <p:cNvPr id="247" name="Google Shape;247;p24"/>
          <p:cNvSpPr txBox="1"/>
          <p:nvPr/>
        </p:nvSpPr>
        <p:spPr>
          <a:xfrm>
            <a:off x="2886075" y="4176712"/>
            <a:ext cx="1095375" cy="152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75" u="none" cap="none" strike="noStrike">
                <a:solidFill>
                  <a:srgbClr val="1E293B"/>
                </a:solidFill>
                <a:latin typeface="Plus Jakarta Sans"/>
                <a:ea typeface="Plus Jakarta Sans"/>
                <a:cs typeface="Plus Jakarta Sans"/>
                <a:sym typeface="Plus Jakarta Sans"/>
              </a:rPr>
              <a:t>Aba Naive Bayes</a:t>
            </a:r>
            <a:endParaRPr/>
          </a:p>
        </p:txBody>
      </p:sp>
      <p:sp>
        <p:nvSpPr>
          <p:cNvPr id="248" name="Google Shape;248;p24"/>
          <p:cNvSpPr txBox="1"/>
          <p:nvPr/>
        </p:nvSpPr>
        <p:spPr>
          <a:xfrm>
            <a:off x="4229100" y="4176712"/>
            <a:ext cx="1590675" cy="152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75" u="none" cap="none" strike="noStrike">
                <a:solidFill>
                  <a:srgbClr val="1E293B"/>
                </a:solidFill>
                <a:latin typeface="Plus Jakarta Sans"/>
                <a:ea typeface="Plus Jakarta Sans"/>
                <a:cs typeface="Plus Jakarta Sans"/>
                <a:sym typeface="Plus Jakarta Sans"/>
              </a:rPr>
              <a:t>Aba Regressão Logística</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252" name="Shape 252"/>
        <p:cNvGrpSpPr/>
        <p:nvPr/>
      </p:nvGrpSpPr>
      <p:grpSpPr>
        <a:xfrm>
          <a:off x="0" y="0"/>
          <a:ext cx="0" cy="0"/>
          <a:chOff x="0" y="0"/>
          <a:chExt cx="0" cy="0"/>
        </a:xfrm>
      </p:grpSpPr>
      <p:sp>
        <p:nvSpPr>
          <p:cNvPr id="253" name="Google Shape;253;p25"/>
          <p:cNvSpPr/>
          <p:nvPr/>
        </p:nvSpPr>
        <p:spPr>
          <a:xfrm>
            <a:off x="5867400" y="4171950"/>
            <a:ext cx="457200" cy="28575"/>
          </a:xfrm>
          <a:prstGeom prst="rect">
            <a:avLst/>
          </a:prstGeom>
          <a:solidFill>
            <a:srgbClr val="38BDF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54" name="Google Shape;254;p25"/>
          <p:cNvSpPr txBox="1"/>
          <p:nvPr/>
        </p:nvSpPr>
        <p:spPr>
          <a:xfrm>
            <a:off x="1282898" y="2657475"/>
            <a:ext cx="9626203" cy="58102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3600" u="none" cap="none" strike="noStrike">
                <a:solidFill>
                  <a:srgbClr val="F8FAFC"/>
                </a:solidFill>
                <a:latin typeface="Space Grotesk"/>
                <a:ea typeface="Space Grotesk"/>
                <a:cs typeface="Space Grotesk"/>
                <a:sym typeface="Space Grotesk"/>
              </a:rPr>
              <a:t>Conclusão &amp; Pergunta / Resposta</a:t>
            </a:r>
            <a:endParaRPr/>
          </a:p>
        </p:txBody>
      </p:sp>
      <p:sp>
        <p:nvSpPr>
          <p:cNvPr id="255" name="Google Shape;255;p25"/>
          <p:cNvSpPr txBox="1"/>
          <p:nvPr/>
        </p:nvSpPr>
        <p:spPr>
          <a:xfrm>
            <a:off x="2524125" y="3390900"/>
            <a:ext cx="7143750" cy="47625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500" u="none" cap="none" strike="noStrike">
                <a:solidFill>
                  <a:srgbClr val="94A3B8"/>
                </a:solidFill>
                <a:latin typeface="Plus Jakarta Sans"/>
                <a:ea typeface="Plus Jakarta Sans"/>
                <a:cs typeface="Plus Jakarta Sans"/>
                <a:sym typeface="Plus Jakarta Sans"/>
              </a:rPr>
              <a:t>A Regressão Logística apresentou o melhor equilíbrio de métricas para prever vitórias em partidas de xadrez online.</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